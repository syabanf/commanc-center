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25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91"/>
  </p:notesMasterIdLst>
  <p:sldIdLst>
    <p:sldId id="336" r:id="rId26"/>
    <p:sldId id="337" r:id="rId27"/>
    <p:sldId id="338" r:id="rId28"/>
    <p:sldId id="339" r:id="rId29"/>
    <p:sldId id="340" r:id="rId30"/>
    <p:sldId id="341" r:id="rId25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  <p:sldId id="352" r:id="rId42"/>
    <p:sldId id="353" r:id="rId43"/>
    <p:sldId id="354" r:id="rId44"/>
  </p:sldIdLst>
  <p:sldSz cx="18288000" cy="10287000"/>
  <p:notesSz cx="6858000" cy="9144000"/>
  <p:embeddedFontLst>
    <p:embeddedFont>
      <p:font typeface="General Sans 2 Semi-Bold" charset="1" panose="00000000000000000000"/>
      <p:regular r:id="rId86"/>
    </p:embeddedFont>
    <p:embeddedFont>
      <p:font typeface="General Sans 2" charset="1" panose="00000000000000000000"/>
      <p:regular r:id="rId87"/>
    </p:embeddedFont>
    <p:embeddedFont>
      <p:font typeface="General Sans 2 Bold" charset="1" panose="00000000000000000000"/>
      <p:regular r:id="rId88"/>
    </p:embeddedFont>
    <p:embeddedFont>
      <p:font typeface="General Sans 2 Medium" charset="1" panose="00000000000000000000"/>
      <p:regular r:id="rId89"/>
    </p:embeddedFont>
    <p:embeddedFont>
      <p:font typeface="Canva Sans" charset="1" panose="020B0503030501040103"/>
      <p:regular r:id="rId90"/>
    </p:embeddedFont>
    <p:embeddedFont>
      <p:font typeface="General Sans 1 Semi-Bold" charset="1" panose="00000000000000000000"/>
      <p:regular r:id="rId98"/>
    </p:embeddedFont>
    <p:embeddedFont>
      <p:font typeface="General Sans 1" charset="1" panose="00000000000000000000"/>
      <p:regular r:id="rId99"/>
    </p:embeddedFont>
    <p:embeddedFont>
      <p:font typeface="General Sans 1 Medium" charset="1" panose="00000000000000000000"/>
      <p:regular r:id="rId10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5" Type="http://schemas.openxmlformats.org/officeDocument/2006/relationships/slide" Target="slides/slide11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86" Type="http://schemas.openxmlformats.org/officeDocument/2006/relationships/font" Target="fonts/font86.fntdata"/><Relationship Id="rId87" Type="http://schemas.openxmlformats.org/officeDocument/2006/relationships/font" Target="fonts/font87.fntdata"/><Relationship Id="rId88" Type="http://schemas.openxmlformats.org/officeDocument/2006/relationships/font" Target="fonts/font88.fntdata"/><Relationship Id="rId89" Type="http://schemas.openxmlformats.org/officeDocument/2006/relationships/font" Target="fonts/font89.fntdata"/><Relationship Id="rId90" Type="http://schemas.openxmlformats.org/officeDocument/2006/relationships/font" Target="fonts/font90.fntdata"/><Relationship Id="rId91" Type="http://schemas.openxmlformats.org/officeDocument/2006/relationships/notesMaster" Target="notesMasters/notesMaster1.xml"/><Relationship Id="rId92" Type="http://schemas.openxmlformats.org/officeDocument/2006/relationships/theme" Target="theme/theme2.xml"/><Relationship Id="rId93" Type="http://schemas.openxmlformats.org/officeDocument/2006/relationships/notesSlide" Target="notesSlides/notesSlide1.xml"/><Relationship Id="rId94" Type="http://schemas.openxmlformats.org/officeDocument/2006/relationships/notesSlide" Target="notesSlides/notesSlide2.xml"/><Relationship Id="rId95" Type="http://schemas.openxmlformats.org/officeDocument/2006/relationships/notesSlide" Target="notesSlides/notesSlide3.xml"/><Relationship Id="rId96" Type="http://schemas.openxmlformats.org/officeDocument/2006/relationships/notesSlide" Target="notesSlides/notesSlide4.xml"/><Relationship Id="rId97" Type="http://schemas.openxmlformats.org/officeDocument/2006/relationships/notesSlide" Target="notesSlides/notesSlide5.xml"/><Relationship Id="rId98" Type="http://schemas.openxmlformats.org/officeDocument/2006/relationships/font" Target="fonts/font98.fntdata"/><Relationship Id="rId99" Type="http://schemas.openxmlformats.org/officeDocument/2006/relationships/font" Target="fonts/font99.fntdata"/><Relationship Id="rId100" Type="http://schemas.openxmlformats.org/officeDocument/2006/relationships/font" Target="fonts/font100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Frontend prototype of the Khobar Command Center for the five Yemen plants. All data is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3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434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14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1132582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746940" y="-1254060"/>
            <a:ext cx="4794119" cy="18288000"/>
            <a:chOff x="0" y="0"/>
            <a:chExt cx="1262649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2649" cy="4816592"/>
            </a:xfrm>
            <a:custGeom>
              <a:avLst/>
              <a:gdLst/>
              <a:ahLst/>
              <a:cxnLst/>
              <a:rect r="r" b="b" t="t" l="l"/>
              <a:pathLst>
                <a:path h="4816592" w="1262649">
                  <a:moveTo>
                    <a:pt x="0" y="0"/>
                  </a:moveTo>
                  <a:lnTo>
                    <a:pt x="1262649" y="0"/>
                  </a:lnTo>
                  <a:lnTo>
                    <a:pt x="1262649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262649" cy="4788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8144696" y="-8144696"/>
            <a:ext cx="1998608" cy="18288000"/>
            <a:chOff x="0" y="0"/>
            <a:chExt cx="526382" cy="48165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6382" cy="4816592"/>
            </a:xfrm>
            <a:custGeom>
              <a:avLst/>
              <a:gdLst/>
              <a:ahLst/>
              <a:cxnLst/>
              <a:rect r="r" b="b" t="t" l="l"/>
              <a:pathLst>
                <a:path h="4816592" w="526382">
                  <a:moveTo>
                    <a:pt x="0" y="0"/>
                  </a:moveTo>
                  <a:lnTo>
                    <a:pt x="526382" y="0"/>
                  </a:lnTo>
                  <a:lnTo>
                    <a:pt x="526382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526382" cy="4788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cover_qr_box" id="9"/>
          <p:cNvGrpSpPr/>
          <p:nvPr/>
        </p:nvGrpSpPr>
        <p:grpSpPr>
          <a:xfrm rot="0">
            <a:off x="15954897" y="8294959"/>
            <a:ext cx="1304403" cy="1304403"/>
            <a:chOff x="0" y="0"/>
            <a:chExt cx="395541" cy="3955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5541" cy="395541"/>
            </a:xfrm>
            <a:custGeom>
              <a:avLst/>
              <a:gdLst/>
              <a:ahLst/>
              <a:cxnLst/>
              <a:rect r="r" b="b" t="t" l="l"/>
              <a:pathLst>
                <a:path h="395541" w="395541">
                  <a:moveTo>
                    <a:pt x="136510" y="0"/>
                  </a:moveTo>
                  <a:lnTo>
                    <a:pt x="259031" y="0"/>
                  </a:lnTo>
                  <a:cubicBezTo>
                    <a:pt x="295236" y="0"/>
                    <a:pt x="329958" y="14382"/>
                    <a:pt x="355558" y="39983"/>
                  </a:cubicBezTo>
                  <a:cubicBezTo>
                    <a:pt x="381159" y="65583"/>
                    <a:pt x="395541" y="100305"/>
                    <a:pt x="395541" y="136510"/>
                  </a:cubicBezTo>
                  <a:lnTo>
                    <a:pt x="395541" y="259031"/>
                  </a:lnTo>
                  <a:cubicBezTo>
                    <a:pt x="395541" y="295236"/>
                    <a:pt x="381159" y="329958"/>
                    <a:pt x="355558" y="355558"/>
                  </a:cubicBezTo>
                  <a:cubicBezTo>
                    <a:pt x="329958" y="381159"/>
                    <a:pt x="295236" y="395541"/>
                    <a:pt x="259031" y="395541"/>
                  </a:cubicBezTo>
                  <a:lnTo>
                    <a:pt x="136510" y="395541"/>
                  </a:lnTo>
                  <a:cubicBezTo>
                    <a:pt x="100305" y="395541"/>
                    <a:pt x="65583" y="381159"/>
                    <a:pt x="39983" y="355558"/>
                  </a:cubicBezTo>
                  <a:cubicBezTo>
                    <a:pt x="14382" y="329958"/>
                    <a:pt x="0" y="295236"/>
                    <a:pt x="0" y="259031"/>
                  </a:cubicBezTo>
                  <a:lnTo>
                    <a:pt x="0" y="136510"/>
                  </a:lnTo>
                  <a:cubicBezTo>
                    <a:pt x="0" y="100305"/>
                    <a:pt x="14382" y="65583"/>
                    <a:pt x="39983" y="39983"/>
                  </a:cubicBezTo>
                  <a:cubicBezTo>
                    <a:pt x="65583" y="14382"/>
                    <a:pt x="100305" y="0"/>
                    <a:pt x="1365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395541" cy="366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cover_qr" id="12"/>
          <p:cNvSpPr/>
          <p:nvPr/>
        </p:nvSpPr>
        <p:spPr>
          <a:xfrm flipH="false" flipV="false" rot="0">
            <a:off x="16073289" y="8409952"/>
            <a:ext cx="1067618" cy="1074416"/>
          </a:xfrm>
          <a:custGeom>
            <a:avLst/>
            <a:gdLst/>
            <a:ahLst/>
            <a:cxnLst/>
            <a:rect r="r" b="b" t="t" l="l"/>
            <a:pathLst>
              <a:path h="1074416" w="1067618">
                <a:moveTo>
                  <a:pt x="0" y="0"/>
                </a:moveTo>
                <a:lnTo>
                  <a:pt x="1067618" y="0"/>
                </a:lnTo>
                <a:lnTo>
                  <a:pt x="1067618" y="1074417"/>
                </a:lnTo>
                <a:lnTo>
                  <a:pt x="0" y="1074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8" t="0" r="-318" b="0"/>
            </a:stretch>
          </a:blipFill>
        </p:spPr>
      </p:sp>
      <p:grpSp>
        <p:nvGrpSpPr>
          <p:cNvPr name="cover_badge_box" id="13"/>
          <p:cNvGrpSpPr/>
          <p:nvPr/>
        </p:nvGrpSpPr>
        <p:grpSpPr>
          <a:xfrm rot="0">
            <a:off x="929564" y="6850079"/>
            <a:ext cx="4269418" cy="522240"/>
            <a:chOff x="0" y="0"/>
            <a:chExt cx="6367603" cy="10720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67603" cy="1072038"/>
            </a:xfrm>
            <a:custGeom>
              <a:avLst/>
              <a:gdLst/>
              <a:ahLst/>
              <a:cxnLst/>
              <a:rect r="r" b="b" t="t" l="l"/>
              <a:pathLst>
                <a:path h="1072038" w="6367603">
                  <a:moveTo>
                    <a:pt x="249582" y="0"/>
                  </a:moveTo>
                  <a:lnTo>
                    <a:pt x="6118022" y="0"/>
                  </a:lnTo>
                  <a:cubicBezTo>
                    <a:pt x="6255862" y="0"/>
                    <a:pt x="6367603" y="111742"/>
                    <a:pt x="6367603" y="249582"/>
                  </a:cubicBezTo>
                  <a:lnTo>
                    <a:pt x="6367603" y="822456"/>
                  </a:lnTo>
                  <a:cubicBezTo>
                    <a:pt x="6367603" y="888649"/>
                    <a:pt x="6341308" y="952131"/>
                    <a:pt x="6294503" y="998937"/>
                  </a:cubicBezTo>
                  <a:cubicBezTo>
                    <a:pt x="6247697" y="1045743"/>
                    <a:pt x="6184215" y="1072038"/>
                    <a:pt x="6118022" y="1072038"/>
                  </a:cubicBezTo>
                  <a:lnTo>
                    <a:pt x="249582" y="1072038"/>
                  </a:lnTo>
                  <a:cubicBezTo>
                    <a:pt x="111742" y="1072038"/>
                    <a:pt x="0" y="960296"/>
                    <a:pt x="0" y="822456"/>
                  </a:cubicBezTo>
                  <a:lnTo>
                    <a:pt x="0" y="249582"/>
                  </a:lnTo>
                  <a:cubicBezTo>
                    <a:pt x="0" y="183388"/>
                    <a:pt x="26295" y="119906"/>
                    <a:pt x="73101" y="73101"/>
                  </a:cubicBezTo>
                  <a:cubicBezTo>
                    <a:pt x="119906" y="26295"/>
                    <a:pt x="183388" y="0"/>
                    <a:pt x="2495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ln w="9525" cap="rnd">
              <a:solidFill>
                <a:srgbClr val="ECECEC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6367603" cy="1062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29564" y="744208"/>
            <a:ext cx="2483242" cy="776749"/>
          </a:xfrm>
          <a:custGeom>
            <a:avLst/>
            <a:gdLst/>
            <a:ahLst/>
            <a:cxnLst/>
            <a:rect r="r" b="b" t="t" l="l"/>
            <a:pathLst>
              <a:path h="776749" w="2483242">
                <a:moveTo>
                  <a:pt x="0" y="0"/>
                </a:moveTo>
                <a:lnTo>
                  <a:pt x="2483242" y="0"/>
                </a:lnTo>
                <a:lnTo>
                  <a:pt x="2483242" y="776748"/>
                </a:lnTo>
                <a:lnTo>
                  <a:pt x="0" y="776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V="true">
            <a:off x="0" y="7877639"/>
            <a:ext cx="182880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cover_title" id="18"/>
          <p:cNvSpPr txBox="true"/>
          <p:nvPr/>
        </p:nvSpPr>
        <p:spPr>
          <a:xfrm rot="0">
            <a:off x="929564" y="8074152"/>
            <a:ext cx="8138160" cy="152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45"/>
              </a:lnSpc>
            </a:pPr>
            <a:r>
              <a:rPr lang="en-US" b="true" sz="5535" spc="-276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GPI Command</a:t>
            </a:r>
          </a:p>
          <a:p>
            <a:pPr algn="l" marL="0" indent="0" lvl="1">
              <a:lnSpc>
                <a:spcPts val="5645"/>
              </a:lnSpc>
            </a:pPr>
            <a:r>
              <a:rPr lang="en-US" b="true" sz="5535" spc="-276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Center</a:t>
            </a:r>
            <a:r>
              <a:rPr lang="en-US" b="true" sz="5535" spc="-276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name="cover_qr_url" id="19"/>
          <p:cNvSpPr txBox="true"/>
          <p:nvPr/>
        </p:nvSpPr>
        <p:spPr>
          <a:xfrm rot="0">
            <a:off x="13889694" y="9378900"/>
            <a:ext cx="1463582" cy="22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3"/>
              </a:lnSpc>
              <a:spcBef>
                <a:spcPct val="0"/>
              </a:spcBef>
            </a:pPr>
            <a:r>
              <a:rPr lang="en-US" sz="1563" spc="-7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www.wit.id</a:t>
            </a:r>
          </a:p>
        </p:txBody>
      </p:sp>
      <p:sp>
        <p:nvSpPr>
          <p:cNvPr name="cover_qr_l1" id="20"/>
          <p:cNvSpPr txBox="true"/>
          <p:nvPr/>
        </p:nvSpPr>
        <p:spPr>
          <a:xfrm rot="0">
            <a:off x="13889694" y="8304484"/>
            <a:ext cx="1463582" cy="22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3"/>
              </a:lnSpc>
              <a:spcBef>
                <a:spcPct val="0"/>
              </a:spcBef>
            </a:pPr>
            <a:r>
              <a:rPr lang="en-US" sz="1563" spc="-7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Scan QR Code</a:t>
            </a:r>
          </a:p>
        </p:txBody>
      </p:sp>
      <p:sp>
        <p:nvSpPr>
          <p:cNvPr name="cover_qr_l2" id="21"/>
          <p:cNvSpPr txBox="true"/>
          <p:nvPr/>
        </p:nvSpPr>
        <p:spPr>
          <a:xfrm rot="0">
            <a:off x="13889694" y="8537389"/>
            <a:ext cx="1463582" cy="52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3"/>
              </a:lnSpc>
            </a:pPr>
            <a:r>
              <a:rPr lang="en-US" sz="1563" spc="-7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to see more detail.</a:t>
            </a:r>
          </a:p>
        </p:txBody>
      </p:sp>
      <p:sp>
        <p:nvSpPr>
          <p:cNvPr name="cover_badge" id="22"/>
          <p:cNvSpPr txBox="true"/>
          <p:nvPr/>
        </p:nvSpPr>
        <p:spPr>
          <a:xfrm rot="0">
            <a:off x="1105954" y="6929507"/>
            <a:ext cx="3921946" cy="31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6"/>
              </a:lnSpc>
              <a:spcBef>
                <a:spcPct val="0"/>
              </a:spcBef>
            </a:pPr>
            <a:r>
              <a:rPr lang="en-US" b="true" sz="1818" spc="18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 xml:space="preserve">Prototype </a:t>
            </a:r>
            <a:r>
              <a:rPr lang="en-US" sz="1818" spc="18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Gulf Power International</a:t>
            </a:r>
          </a:p>
        </p:txBody>
      </p:sp>
      <p:sp>
        <p:nvSpPr>
          <p:cNvPr name="cover_strap" id="23"/>
          <p:cNvSpPr txBox="true"/>
          <p:nvPr/>
        </p:nvSpPr>
        <p:spPr>
          <a:xfrm rot="0">
            <a:off x="11983670" y="739420"/>
            <a:ext cx="5275630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99"/>
              </a:lnSpc>
              <a:spcBef>
                <a:spcPct val="0"/>
              </a:spcBef>
            </a:pPr>
            <a:r>
              <a:rPr lang="en-US" sz="1799" spc="-8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Make IT Happen</a:t>
            </a:r>
          </a:p>
        </p:txBody>
      </p:sp>
      <p:sp>
        <p:nvSpPr>
          <p:cNvPr name="cover_tagline" id="24"/>
          <p:cNvSpPr txBox="true"/>
          <p:nvPr/>
        </p:nvSpPr>
        <p:spPr>
          <a:xfrm rot="0">
            <a:off x="9234159" y="739420"/>
            <a:ext cx="5134064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99"/>
              </a:lnSpc>
              <a:spcBef>
                <a:spcPct val="0"/>
              </a:spcBef>
            </a:pPr>
            <a:r>
              <a:rPr lang="en-US" sz="1799" spc="-8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360° Digital Transformation Culture Company</a:t>
            </a:r>
          </a:p>
        </p:txBody>
      </p:sp>
      <p:sp>
        <p:nvSpPr>
          <p:cNvPr name="cover_notice1" id="25"/>
          <p:cNvSpPr txBox="true"/>
          <p:nvPr/>
        </p:nvSpPr>
        <p:spPr>
          <a:xfrm rot="0">
            <a:off x="9234159" y="8247334"/>
            <a:ext cx="3177434" cy="5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3"/>
              </a:lnSpc>
              <a:spcBef>
                <a:spcPct val="0"/>
              </a:spcBef>
            </a:pPr>
            <a:r>
              <a:rPr lang="en-US" sz="1437" spc="14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This document only applies to your collaboration with WIT.ID</a:t>
            </a:r>
          </a:p>
        </p:txBody>
      </p:sp>
      <p:sp>
        <p:nvSpPr>
          <p:cNvPr name="cover_notice2" id="26"/>
          <p:cNvSpPr txBox="true"/>
          <p:nvPr/>
        </p:nvSpPr>
        <p:spPr>
          <a:xfrm rot="0">
            <a:off x="9234159" y="9066917"/>
            <a:ext cx="3931636" cy="5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3"/>
              </a:lnSpc>
              <a:spcBef>
                <a:spcPct val="0"/>
              </a:spcBef>
            </a:pPr>
            <a:r>
              <a:rPr lang="en-US" sz="1437" spc="14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And please do not spread and use it for things outside of this collaboration.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202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0" y="-3066150"/>
            <a:ext cx="18288000" cy="18333835"/>
          </a:xfrm>
          <a:custGeom>
            <a:avLst/>
            <a:gdLst/>
            <a:ahLst/>
            <a:cxnLst/>
            <a:rect r="r" b="b" t="t" l="l"/>
            <a:pathLst>
              <a:path h="18333835" w="18288000">
                <a:moveTo>
                  <a:pt x="18288000" y="0"/>
                </a:moveTo>
                <a:lnTo>
                  <a:pt x="0" y="0"/>
                </a:lnTo>
                <a:lnTo>
                  <a:pt x="0" y="18333834"/>
                </a:lnTo>
                <a:lnTo>
                  <a:pt x="18288000" y="18333834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77416" y="-6402805"/>
            <a:ext cx="19840761" cy="19840761"/>
          </a:xfrm>
          <a:custGeom>
            <a:avLst/>
            <a:gdLst/>
            <a:ahLst/>
            <a:cxnLst/>
            <a:rect r="r" b="b" t="t" l="l"/>
            <a:pathLst>
              <a:path h="19840761" w="19840761">
                <a:moveTo>
                  <a:pt x="0" y="0"/>
                </a:moveTo>
                <a:lnTo>
                  <a:pt x="19840761" y="0"/>
                </a:lnTo>
                <a:lnTo>
                  <a:pt x="19840761" y="19840761"/>
                </a:lnTo>
                <a:lnTo>
                  <a:pt x="0" y="19840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243712" y="3908100"/>
            <a:ext cx="14842406" cy="14842406"/>
          </a:xfrm>
          <a:custGeom>
            <a:avLst/>
            <a:gdLst/>
            <a:ahLst/>
            <a:cxnLst/>
            <a:rect r="r" b="b" t="t" l="l"/>
            <a:pathLst>
              <a:path h="14842406" w="14842406">
                <a:moveTo>
                  <a:pt x="0" y="0"/>
                </a:moveTo>
                <a:lnTo>
                  <a:pt x="14842406" y="0"/>
                </a:lnTo>
                <a:lnTo>
                  <a:pt x="14842406" y="14842406"/>
                </a:lnTo>
                <a:lnTo>
                  <a:pt x="0" y="14842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10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18">
                  <a:solidFill>
                    <a:srgbClr val="FFFFFF"/>
                  </a:solidFill>
                  <a:latin typeface="General Sans 2 Medium"/>
                  <a:ea typeface="General Sans 2 Medium"/>
                  <a:cs typeface="General Sans 2 Medium"/>
                  <a:sym typeface="General Sans 2 Medium"/>
                </a:rPr>
                <a:t>Summary</a:t>
              </a:r>
            </a:p>
          </p:txBody>
        </p:sp>
      </p:grpSp>
      <p:sp>
        <p:nvSpPr>
          <p:cNvPr name="agenda_circle" id="40"/>
          <p:cNvSpPr/>
          <p:nvPr/>
        </p:nvSpPr>
        <p:spPr>
          <a:xfrm flipH="false" flipV="false" rot="0">
            <a:off x="7955279" y="1463040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44"/>
          <p:cNvSpPr/>
          <p:nvPr/>
        </p:nvSpPr>
        <p:spPr>
          <a:xfrm flipH="false" flipV="false" rot="0">
            <a:off x="11311128" y="1463040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48"/>
          <p:cNvSpPr/>
          <p:nvPr/>
        </p:nvSpPr>
        <p:spPr>
          <a:xfrm flipH="false" flipV="false" rot="0">
            <a:off x="14676120" y="1463040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52"/>
          <p:cNvSpPr/>
          <p:nvPr/>
        </p:nvSpPr>
        <p:spPr>
          <a:xfrm flipH="false" flipV="false" rot="0">
            <a:off x="7955279" y="4553712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56"/>
          <p:cNvSpPr/>
          <p:nvPr/>
        </p:nvSpPr>
        <p:spPr>
          <a:xfrm flipH="false" flipV="false" rot="0">
            <a:off x="11311128" y="4553712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60"/>
          <p:cNvSpPr/>
          <p:nvPr/>
        </p:nvSpPr>
        <p:spPr>
          <a:xfrm flipH="false" flipV="false" rot="0">
            <a:off x="14676120" y="4553712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tr_left" id="20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sp>
        <p:nvSpPr>
          <p:cNvPr name="agenda_title" id="22"/>
          <p:cNvSpPr txBox="true"/>
          <p:nvPr/>
        </p:nvSpPr>
        <p:spPr>
          <a:xfrm rot="0">
            <a:off x="942844" y="1640025"/>
            <a:ext cx="6035040" cy="172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0"/>
              </a:lnSpc>
              <a:spcBef>
                <a:spcPct val="0"/>
              </a:spcBef>
            </a:pPr>
            <a:r>
              <a:rPr lang="en-US" b="true" sz="4360" spc="-2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WHAT THIS</a:t>
            </a:r>
          </a:p>
          <a:p>
            <a:pPr algn="l">
              <a:lnSpc>
                <a:spcPts val="4360"/>
              </a:lnSpc>
              <a:spcBef>
                <a:spcPct val="0"/>
              </a:spcBef>
            </a:pPr>
            <a:r>
              <a:rPr lang="en-US" b="true" sz="4360" spc="-2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DECK COVERS</a:t>
            </a:r>
            <a:r>
              <a:rPr lang="en-US" b="true" sz="4360" spc="-2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name="agenda_intro" id="37"/>
          <p:cNvSpPr txBox="true"/>
          <p:nvPr/>
        </p:nvSpPr>
        <p:spPr>
          <a:xfrm rot="0">
            <a:off x="929564" y="6370534"/>
            <a:ext cx="5450144" cy="101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100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GPI Command Center</a:t>
            </a:r>
          </a:p>
          <a:p>
            <a:pPr algn="l">
              <a:lnSpc>
                <a:spcPts val="3024"/>
              </a:lnSpc>
            </a:pPr>
            <a:r>
              <a:rPr lang="en-US" sz="1725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A read-only console for the 300 MW Yemen fleet, built as a clickable prototype.</a:t>
            </a:r>
          </a:p>
        </p:txBody>
      </p:sp>
      <p:sp>
        <p:nvSpPr>
          <p:cNvPr name="agenda_hashtag" id="39"/>
          <p:cNvSpPr txBox="true"/>
          <p:nvPr/>
        </p:nvSpPr>
        <p:spPr>
          <a:xfrm rot="0">
            <a:off x="14897844" y="8412107"/>
            <a:ext cx="2361456" cy="383667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3024"/>
              </a:lnSpc>
            </a:pPr>
            <a:r>
              <a:rPr lang="en-US" sz="2100" b="true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#MakeITHappen</a:t>
            </a:r>
          </a:p>
        </p:txBody>
      </p:sp>
      <p:sp>
        <p:nvSpPr>
          <p:cNvPr id="41" name="Agenda label 41"/>
          <p:cNvSpPr txBox="1"/>
          <p:nvPr/>
        </p:nvSpPr>
        <p:spPr>
          <a:xfrm>
            <a:off x="8302751" y="216712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CONTEXT.</a:t>
            </a:r>
          </a:p>
        </p:txBody>
      </p:sp>
      <p:sp>
        <p:nvSpPr>
          <p:cNvPr id="42" name="Agenda desc 42"/>
          <p:cNvSpPr txBox="1"/>
          <p:nvPr/>
        </p:nvSpPr>
        <p:spPr>
          <a:xfrm>
            <a:off x="8348471" y="26426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Five plants watched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from Khobar</a:t>
            </a:r>
          </a:p>
        </p:txBody>
      </p:sp>
      <p:sp>
        <p:nvSpPr>
          <p:cNvPr id="43" name="Agenda ref 43"/>
          <p:cNvSpPr txBox="1"/>
          <p:nvPr/>
        </p:nvSpPr>
        <p:spPr>
          <a:xfrm>
            <a:off x="8439911" y="320954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3–5</a:t>
            </a:r>
          </a:p>
        </p:txBody>
      </p:sp>
      <p:sp>
        <p:nvSpPr>
          <p:cNvPr id="45" name="Agenda label 45"/>
          <p:cNvSpPr txBox="1"/>
          <p:nvPr/>
        </p:nvSpPr>
        <p:spPr>
          <a:xfrm>
            <a:off x="11658599" y="216712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MONITOR.</a:t>
            </a:r>
          </a:p>
        </p:txBody>
      </p:sp>
      <p:sp>
        <p:nvSpPr>
          <p:cNvPr id="46" name="Agenda desc 46"/>
          <p:cNvSpPr txBox="1"/>
          <p:nvPr/>
        </p:nvSpPr>
        <p:spPr>
          <a:xfrm>
            <a:off x="11704319" y="26426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Overview, site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plan, drill-down</a:t>
            </a:r>
          </a:p>
        </p:txBody>
      </p:sp>
      <p:sp>
        <p:nvSpPr>
          <p:cNvPr id="47" name="Agenda ref 47"/>
          <p:cNvSpPr txBox="1"/>
          <p:nvPr/>
        </p:nvSpPr>
        <p:spPr>
          <a:xfrm>
            <a:off x="11795759" y="320954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6–9</a:t>
            </a:r>
          </a:p>
        </p:txBody>
      </p:sp>
      <p:sp>
        <p:nvSpPr>
          <p:cNvPr id="49" name="Agenda label 49"/>
          <p:cNvSpPr txBox="1"/>
          <p:nvPr/>
        </p:nvSpPr>
        <p:spPr>
          <a:xfrm>
            <a:off x="15023592" y="216712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ALARMS.</a:t>
            </a:r>
          </a:p>
        </p:txBody>
      </p:sp>
      <p:sp>
        <p:nvSpPr>
          <p:cNvPr id="50" name="Agenda desc 50"/>
          <p:cNvSpPr txBox="1"/>
          <p:nvPr/>
        </p:nvSpPr>
        <p:spPr>
          <a:xfrm>
            <a:off x="15069312" y="26426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Lifecycle,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escalation, filters</a:t>
            </a:r>
          </a:p>
        </p:txBody>
      </p:sp>
      <p:sp>
        <p:nvSpPr>
          <p:cNvPr id="51" name="Agenda ref 51"/>
          <p:cNvSpPr txBox="1"/>
          <p:nvPr/>
        </p:nvSpPr>
        <p:spPr>
          <a:xfrm>
            <a:off x="15160752" y="320954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10–12</a:t>
            </a:r>
          </a:p>
        </p:txBody>
      </p:sp>
      <p:sp>
        <p:nvSpPr>
          <p:cNvPr id="53" name="Agenda label 53"/>
          <p:cNvSpPr txBox="1"/>
          <p:nvPr/>
        </p:nvSpPr>
        <p:spPr>
          <a:xfrm>
            <a:off x="8302751" y="52578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INSIGHTS.</a:t>
            </a:r>
          </a:p>
        </p:txBody>
      </p:sp>
      <p:sp>
        <p:nvSpPr>
          <p:cNvPr id="54" name="Agenda desc 54"/>
          <p:cNvSpPr txBox="1"/>
          <p:nvPr/>
        </p:nvSpPr>
        <p:spPr>
          <a:xfrm>
            <a:off x="8348471" y="573328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Findings and the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charts behind them</a:t>
            </a:r>
          </a:p>
        </p:txBody>
      </p:sp>
      <p:sp>
        <p:nvSpPr>
          <p:cNvPr id="55" name="Agenda ref 55"/>
          <p:cNvSpPr txBox="1"/>
          <p:nvPr/>
        </p:nvSpPr>
        <p:spPr>
          <a:xfrm>
            <a:off x="8439911" y="630021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13–14</a:t>
            </a:r>
          </a:p>
        </p:txBody>
      </p:sp>
      <p:sp>
        <p:nvSpPr>
          <p:cNvPr id="57" name="Agenda label 57"/>
          <p:cNvSpPr txBox="1"/>
          <p:nvPr/>
        </p:nvSpPr>
        <p:spPr>
          <a:xfrm>
            <a:off x="11658599" y="52578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ACCESS.</a:t>
            </a:r>
          </a:p>
        </p:txBody>
      </p:sp>
      <p:sp>
        <p:nvSpPr>
          <p:cNvPr id="58" name="Agenda desc 58"/>
          <p:cNvSpPr txBox="1"/>
          <p:nvPr/>
        </p:nvSpPr>
        <p:spPr>
          <a:xfrm>
            <a:off x="11704319" y="57332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Roles and screens</a:t>
            </a:r>
          </a:p>
        </p:txBody>
      </p:sp>
      <p:sp>
        <p:nvSpPr>
          <p:cNvPr id="59" name="Agenda ref 59"/>
          <p:cNvSpPr txBox="1"/>
          <p:nvPr/>
        </p:nvSpPr>
        <p:spPr>
          <a:xfrm>
            <a:off x="11795759" y="607161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15–16</a:t>
            </a:r>
          </a:p>
        </p:txBody>
      </p:sp>
      <p:sp>
        <p:nvSpPr>
          <p:cNvPr id="61" name="Agenda label 61"/>
          <p:cNvSpPr txBox="1"/>
          <p:nvPr/>
        </p:nvSpPr>
        <p:spPr>
          <a:xfrm>
            <a:off x="15023592" y="52578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NEXT.</a:t>
            </a:r>
          </a:p>
        </p:txBody>
      </p:sp>
      <p:sp>
        <p:nvSpPr>
          <p:cNvPr id="62" name="Agenda desc 62"/>
          <p:cNvSpPr txBox="1"/>
          <p:nvPr/>
        </p:nvSpPr>
        <p:spPr>
          <a:xfrm>
            <a:off x="15069312" y="57332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Status and next steps</a:t>
            </a:r>
          </a:p>
        </p:txBody>
      </p:sp>
      <p:sp>
        <p:nvSpPr>
          <p:cNvPr id="63" name="Agenda ref 63"/>
          <p:cNvSpPr txBox="1"/>
          <p:nvPr/>
        </p:nvSpPr>
        <p:spPr>
          <a:xfrm>
            <a:off x="15160752" y="607161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17–18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CONTEXT. The GPI fleet</a:t>
              </a:r>
            </a:p>
          </p:txBody>
        </p:sp>
      </p:grpSp>
      <p:pic>
        <p:nvPicPr>
          <p:cNvPr id="56" name="Art industrial-ai" descr="industrial-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02920" y="2147809"/>
            <a:ext cx="9418320" cy="6283988"/>
          </a:xfrm>
          <a:prstGeom prst="rect">
            <a:avLst/>
          </a:prstGeom>
        </p:spPr>
      </p:pic>
      <p:sp>
        <p:nvSpPr>
          <p:cNvPr id="57" name="Title 57"/>
          <p:cNvSpPr txBox="1"/>
          <p:nvPr/>
        </p:nvSpPr>
        <p:spPr>
          <a:xfrm>
            <a:off x="9144000" y="1243584"/>
            <a:ext cx="8202168" cy="13124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7"/>
              </a:lnSpc>
            </a:pPr>
            <a:r>
              <a:rPr lang="en-US" sz="418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Five plants,</a:t>
            </a:r>
          </a:p>
          <a:p>
            <a:pPr algn="l">
              <a:lnSpc>
                <a:spcPts val="4807"/>
              </a:lnSpc>
            </a:pPr>
            <a:r>
              <a:rPr lang="en-US" sz="418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one console</a:t>
            </a:r>
            <a:r>
              <a:rPr lang="en-US" sz="418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8" name="Card 58"/>
          <p:cNvSpPr/>
          <p:nvPr/>
        </p:nvSpPr>
        <p:spPr>
          <a:xfrm>
            <a:off x="9144000" y="3007740"/>
            <a:ext cx="8202168" cy="2545080"/>
          </a:xfrm>
          <a:prstGeom prst="roundRect">
            <a:avLst>
              <a:gd name="adj" fmla="val 3592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9" name="Card head 59"/>
          <p:cNvSpPr txBox="1"/>
          <p:nvPr/>
        </p:nvSpPr>
        <p:spPr>
          <a:xfrm>
            <a:off x="9509760" y="3309492"/>
            <a:ext cx="74706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</a:pPr>
            <a:r>
              <a:rPr lang="en-US" sz="21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fleet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3950334"/>
            <a:ext cx="175260" cy="175260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9867900" y="3894708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Five HFO plants in Hadramout and Aden, 300 MW planned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4309998"/>
            <a:ext cx="175260" cy="175260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9867900" y="4254372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Al-Bidrah, Jul Masahah and Umbaikha operate today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4669662"/>
            <a:ext cx="175260" cy="175260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9867900" y="4614037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Al-Ghurf commissions, Aden is under construction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5029327"/>
            <a:ext cx="175260" cy="175260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9867900" y="4973701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Each site reaches Khobar over a Starlink link</a:t>
            </a:r>
          </a:p>
        </p:txBody>
      </p:sp>
      <p:sp>
        <p:nvSpPr>
          <p:cNvPr id="68" name="Card 68"/>
          <p:cNvSpPr/>
          <p:nvPr/>
        </p:nvSpPr>
        <p:spPr>
          <a:xfrm>
            <a:off x="9144000" y="5781421"/>
            <a:ext cx="8202168" cy="2545080"/>
          </a:xfrm>
          <a:prstGeom prst="roundRect">
            <a:avLst>
              <a:gd name="adj" fmla="val 3592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sp>
        <p:nvSpPr>
          <p:cNvPr id="69" name="Card head 69"/>
          <p:cNvSpPr txBox="1"/>
          <p:nvPr/>
        </p:nvSpPr>
        <p:spPr>
          <a:xfrm>
            <a:off x="9509760" y="6083173"/>
            <a:ext cx="74706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</a:pPr>
            <a:r>
              <a:rPr lang="en-US" sz="21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What the console answers</a:t>
            </a:r>
          </a:p>
        </p:txBody>
      </p:sp>
      <p:pic>
        <p:nvPicPr>
          <p:cNvPr id="70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6724015"/>
            <a:ext cx="175260" cy="175260"/>
          </a:xfrm>
          <a:prstGeom prst="rect">
            <a:avLst/>
          </a:prstGeom>
        </p:spPr>
      </p:pic>
      <p:sp>
        <p:nvSpPr>
          <p:cNvPr id="71" name="Bullet 71"/>
          <p:cNvSpPr txBox="1"/>
          <p:nvPr/>
        </p:nvSpPr>
        <p:spPr>
          <a:xfrm>
            <a:off x="9867900" y="6668389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What each plant generates now, and how old that value is</a:t>
            </a:r>
          </a:p>
        </p:txBody>
      </p:sp>
      <p:pic>
        <p:nvPicPr>
          <p:cNvPr id="72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7083679"/>
            <a:ext cx="175260" cy="175260"/>
          </a:xfrm>
          <a:prstGeom prst="rect">
            <a:avLst/>
          </a:prstGeom>
        </p:spPr>
      </p:pic>
      <p:sp>
        <p:nvSpPr>
          <p:cNvPr id="73" name="Bullet 73"/>
          <p:cNvSpPr txBox="1"/>
          <p:nvPr/>
        </p:nvSpPr>
        <p:spPr>
          <a:xfrm>
            <a:off x="9867900" y="7028053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Which alarm needs whom, and who owns it</a:t>
            </a:r>
          </a:p>
        </p:txBody>
      </p:sp>
      <p:pic>
        <p:nvPicPr>
          <p:cNvPr id="74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7443342"/>
            <a:ext cx="175260" cy="175260"/>
          </a:xfrm>
          <a:prstGeom prst="rect">
            <a:avLst/>
          </a:prstGeom>
        </p:spPr>
      </p:pic>
      <p:sp>
        <p:nvSpPr>
          <p:cNvPr id="75" name="Bullet 75"/>
          <p:cNvSpPr txBox="1"/>
          <p:nvPr/>
        </p:nvSpPr>
        <p:spPr>
          <a:xfrm>
            <a:off x="9867900" y="7387717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How many hours of fuel each site has left</a:t>
            </a:r>
          </a:p>
        </p:txBody>
      </p:sp>
      <p:pic>
        <p:nvPicPr>
          <p:cNvPr id="76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7803006"/>
            <a:ext cx="175260" cy="175260"/>
          </a:xfrm>
          <a:prstGeom prst="rect">
            <a:avLst/>
          </a:prstGeom>
        </p:spPr>
      </p:pic>
      <p:sp>
        <p:nvSpPr>
          <p:cNvPr id="77" name="Bullet 77"/>
          <p:cNvSpPr txBox="1"/>
          <p:nvPr/>
        </p:nvSpPr>
        <p:spPr>
          <a:xfrm>
            <a:off x="9867900" y="7747380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Where construction and commissioning stand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/>
      <p:grpSp>
        <p:nvGrpSpPr>
          <p:cNvPr name="Group 41" id="41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46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NEEDS. Problems and answers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2844" y="9381859"/>
            <a:ext cx="16402311" cy="217503"/>
            <a:chOff x="0" y="0"/>
            <a:chExt cx="21869749" cy="290004"/>
          </a:xfrm>
        </p:grpSpPr>
        <p:sp>
          <p:nvSpPr>
            <p:cNvPr name="ftr_left" id="50"/>
            <p:cNvSpPr txBox="true"/>
            <p:nvPr/>
          </p:nvSpPr>
          <p:spPr>
            <a:xfrm rot="0">
              <a:off x="2249988" y="6669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4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6082239" y="6669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0889" cy="288051"/>
            </a:xfrm>
            <a:custGeom>
              <a:avLst/>
              <a:gdLst/>
              <a:ahLst/>
              <a:cxnLst/>
              <a:rect r="r" b="b" t="t" l="l"/>
              <a:pathLst>
                <a:path h="288051" w="920889">
                  <a:moveTo>
                    <a:pt x="0" y="0"/>
                  </a:moveTo>
                  <a:lnTo>
                    <a:pt x="920889" y="0"/>
                  </a:lnTo>
                  <a:lnTo>
                    <a:pt x="920889" y="288051"/>
                  </a:lnTo>
                  <a:lnTo>
                    <a:pt x="0" y="288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id="53" name="Title 53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Each operating question gets a screen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4" name="Col head 54"/>
          <p:cNvSpPr txBox="1"/>
          <p:nvPr/>
        </p:nvSpPr>
        <p:spPr>
          <a:xfrm>
            <a:off x="2249424" y="230428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00"/>
              </a:lnSpc>
            </a:pPr>
            <a:r>
              <a:rPr lang="en-US" sz="2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What the Command Center needs</a:t>
            </a:r>
          </a:p>
        </p:txBody>
      </p:sp>
      <p:sp>
        <p:nvSpPr>
          <p:cNvPr id="55" name="Col head 55"/>
          <p:cNvSpPr txBox="1"/>
          <p:nvPr/>
        </p:nvSpPr>
        <p:spPr>
          <a:xfrm>
            <a:off x="9656064" y="230428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00"/>
              </a:lnSpc>
            </a:pPr>
            <a:r>
              <a:rPr lang="en-US" sz="20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What the console does</a:t>
            </a:r>
          </a:p>
        </p:txBody>
      </p:sp>
      <p:sp>
        <p:nvSpPr>
          <p:cNvPr id="56" name="Row 56"/>
          <p:cNvSpPr/>
          <p:nvPr/>
        </p:nvSpPr>
        <p:spPr>
          <a:xfrm>
            <a:off x="923544" y="2816352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7" name="Num 57"/>
          <p:cNvSpPr txBox="1"/>
          <p:nvPr/>
        </p:nvSpPr>
        <p:spPr>
          <a:xfrm>
            <a:off x="1289304" y="2816352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58" name="Left 58"/>
          <p:cNvSpPr txBox="1"/>
          <p:nvPr/>
        </p:nvSpPr>
        <p:spPr>
          <a:xfrm>
            <a:off x="2249424" y="2816352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See every plant live, with honest data age</a:t>
            </a:r>
          </a:p>
        </p:txBody>
      </p:sp>
      <p:cxnSp>
        <p:nvCxnSpPr>
          <p:cNvPr id="59" name="Divider 59"/>
          <p:cNvCxnSpPr/>
          <p:nvPr/>
        </p:nvCxnSpPr>
        <p:spPr>
          <a:xfrm>
            <a:off x="9153144" y="2999232"/>
            <a:ext cx="0" cy="768095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3264408"/>
            <a:ext cx="237744" cy="237744"/>
          </a:xfrm>
          <a:prstGeom prst="rect">
            <a:avLst/>
          </a:prstGeom>
        </p:spPr>
      </p:pic>
      <p:sp>
        <p:nvSpPr>
          <p:cNvPr id="61" name="Right 61"/>
          <p:cNvSpPr txBox="1"/>
          <p:nvPr/>
        </p:nvSpPr>
        <p:spPr>
          <a:xfrm>
            <a:off x="10067544" y="2816352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Values refresh every 5 s and every number shows its age</a:t>
            </a:r>
          </a:p>
        </p:txBody>
      </p:sp>
      <p:sp>
        <p:nvSpPr>
          <p:cNvPr id="62" name="Row 62"/>
          <p:cNvSpPr/>
          <p:nvPr/>
        </p:nvSpPr>
        <p:spPr>
          <a:xfrm>
            <a:off x="923544" y="4059935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3" name="Num 63"/>
          <p:cNvSpPr txBox="1"/>
          <p:nvPr/>
        </p:nvSpPr>
        <p:spPr>
          <a:xfrm>
            <a:off x="1289304" y="4059935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64" name="Left 64"/>
          <p:cNvSpPr txBox="1"/>
          <p:nvPr/>
        </p:nvSpPr>
        <p:spPr>
          <a:xfrm>
            <a:off x="2249424" y="4059935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Tell a quiet plant from a lost link</a:t>
            </a:r>
          </a:p>
        </p:txBody>
      </p:sp>
      <p:cxnSp>
        <p:nvCxnSpPr>
          <p:cNvPr id="65" name="Divider 65"/>
          <p:cNvCxnSpPr/>
          <p:nvPr/>
        </p:nvCxnSpPr>
        <p:spPr>
          <a:xfrm>
            <a:off x="9153144" y="4242816"/>
            <a:ext cx="0" cy="768095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4507992"/>
            <a:ext cx="237744" cy="237744"/>
          </a:xfrm>
          <a:prstGeom prst="rect">
            <a:avLst/>
          </a:prstGeom>
        </p:spPr>
      </p:pic>
      <p:sp>
        <p:nvSpPr>
          <p:cNvPr id="67" name="Right 67"/>
          <p:cNvSpPr txBox="1"/>
          <p:nvPr/>
        </p:nvSpPr>
        <p:spPr>
          <a:xfrm>
            <a:off x="10067544" y="4059935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Late after 15 s, stale after 60 s, with a banner naming the age</a:t>
            </a:r>
          </a:p>
        </p:txBody>
      </p:sp>
      <p:sp>
        <p:nvSpPr>
          <p:cNvPr id="68" name="Row 68"/>
          <p:cNvSpPr/>
          <p:nvPr/>
        </p:nvSpPr>
        <p:spPr>
          <a:xfrm>
            <a:off x="923544" y="5303519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9" name="Num 69"/>
          <p:cNvSpPr txBox="1"/>
          <p:nvPr/>
        </p:nvSpPr>
        <p:spPr>
          <a:xfrm>
            <a:off x="1289304" y="5303519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03</a:t>
            </a:r>
          </a:p>
        </p:txBody>
      </p:sp>
      <p:sp>
        <p:nvSpPr>
          <p:cNvPr id="70" name="Left 70"/>
          <p:cNvSpPr txBox="1"/>
          <p:nvPr/>
        </p:nvSpPr>
        <p:spPr>
          <a:xfrm>
            <a:off x="2249424" y="5303519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Make sure every alarm gets an owner</a:t>
            </a:r>
          </a:p>
        </p:txBody>
      </p:sp>
      <p:cxnSp>
        <p:nvCxnSpPr>
          <p:cNvPr id="71" name="Divider 71"/>
          <p:cNvCxnSpPr/>
          <p:nvPr/>
        </p:nvCxnSpPr>
        <p:spPr>
          <a:xfrm>
            <a:off x="9153144" y="5486399"/>
            <a:ext cx="0" cy="768095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72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5751575"/>
            <a:ext cx="237744" cy="237744"/>
          </a:xfrm>
          <a:prstGeom prst="rect">
            <a:avLst/>
          </a:prstGeom>
        </p:spPr>
      </p:pic>
      <p:sp>
        <p:nvSpPr>
          <p:cNvPr id="73" name="Right 73"/>
          <p:cNvSpPr txBox="1"/>
          <p:nvPr/>
        </p:nvSpPr>
        <p:spPr>
          <a:xfrm>
            <a:off x="10067544" y="5303519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Ownerless alarms climb a level at 30, 60 and 120 minutes</a:t>
            </a:r>
          </a:p>
        </p:txBody>
      </p:sp>
      <p:sp>
        <p:nvSpPr>
          <p:cNvPr id="74" name="Row 74"/>
          <p:cNvSpPr/>
          <p:nvPr/>
        </p:nvSpPr>
        <p:spPr>
          <a:xfrm>
            <a:off x="923544" y="6547103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5" name="Num 75"/>
          <p:cNvSpPr txBox="1"/>
          <p:nvPr/>
        </p:nvSpPr>
        <p:spPr>
          <a:xfrm>
            <a:off x="1289304" y="6547103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04</a:t>
            </a:r>
          </a:p>
        </p:txBody>
      </p:sp>
      <p:sp>
        <p:nvSpPr>
          <p:cNvPr id="76" name="Left 76"/>
          <p:cNvSpPr txBox="1"/>
          <p:nvPr/>
        </p:nvSpPr>
        <p:spPr>
          <a:xfrm>
            <a:off x="2249424" y="6547103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Know fuel stock before it runs out</a:t>
            </a:r>
          </a:p>
        </p:txBody>
      </p:sp>
      <p:cxnSp>
        <p:nvCxnSpPr>
          <p:cNvPr id="77" name="Divider 77"/>
          <p:cNvCxnSpPr/>
          <p:nvPr/>
        </p:nvCxnSpPr>
        <p:spPr>
          <a:xfrm>
            <a:off x="9153144" y="6729983"/>
            <a:ext cx="0" cy="768096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78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6995159"/>
            <a:ext cx="237744" cy="237744"/>
          </a:xfrm>
          <a:prstGeom prst="rect">
            <a:avLst/>
          </a:prstGeom>
        </p:spPr>
      </p:pic>
      <p:sp>
        <p:nvSpPr>
          <p:cNvPr id="79" name="Right 79"/>
          <p:cNvSpPr txBox="1"/>
          <p:nvPr/>
        </p:nvSpPr>
        <p:spPr>
          <a:xfrm>
            <a:off x="10067544" y="6547103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Tank level and hours of supply per plant at the current burn</a:t>
            </a:r>
          </a:p>
        </p:txBody>
      </p:sp>
      <p:sp>
        <p:nvSpPr>
          <p:cNvPr id="80" name="Row 80"/>
          <p:cNvSpPr/>
          <p:nvPr/>
        </p:nvSpPr>
        <p:spPr>
          <a:xfrm>
            <a:off x="923544" y="7790687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1" name="Num 81"/>
          <p:cNvSpPr txBox="1"/>
          <p:nvPr/>
        </p:nvSpPr>
        <p:spPr>
          <a:xfrm>
            <a:off x="1289304" y="7790687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05</a:t>
            </a:r>
          </a:p>
        </p:txBody>
      </p:sp>
      <p:sp>
        <p:nvSpPr>
          <p:cNvPr id="82" name="Left 82"/>
          <p:cNvSpPr txBox="1"/>
          <p:nvPr/>
        </p:nvSpPr>
        <p:spPr>
          <a:xfrm>
            <a:off x="2249424" y="7790687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Follow sites still being built</a:t>
            </a:r>
          </a:p>
        </p:txBody>
      </p:sp>
      <p:cxnSp>
        <p:nvCxnSpPr>
          <p:cNvPr id="83" name="Divider 83"/>
          <p:cNvCxnSpPr/>
          <p:nvPr/>
        </p:nvCxnSpPr>
        <p:spPr>
          <a:xfrm>
            <a:off x="9153144" y="7973567"/>
            <a:ext cx="0" cy="768096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84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8238743"/>
            <a:ext cx="237744" cy="237744"/>
          </a:xfrm>
          <a:prstGeom prst="rect">
            <a:avLst/>
          </a:prstGeom>
        </p:spPr>
      </p:pic>
      <p:sp>
        <p:nvSpPr>
          <p:cNvPr id="85" name="Right 85"/>
          <p:cNvSpPr txBox="1"/>
          <p:nvPr/>
        </p:nvSpPr>
        <p:spPr>
          <a:xfrm>
            <a:off x="10067544" y="7790687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Milestones, issues, photos and progress that cannot go backwards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5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CONTEXT. The fleet in numbers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fleet the prototype models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Stat tile 57"/>
          <p:cNvSpPr/>
          <p:nvPr/>
        </p:nvSpPr>
        <p:spPr>
          <a:xfrm>
            <a:off x="932688" y="3520440"/>
            <a:ext cx="3897630" cy="3200400"/>
          </a:xfrm>
          <a:prstGeom prst="roundRect">
            <a:avLst>
              <a:gd name="adj" fmla="val 285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Stat value 58"/>
          <p:cNvSpPr txBox="1"/>
          <p:nvPr/>
        </p:nvSpPr>
        <p:spPr>
          <a:xfrm>
            <a:off x="1344168" y="3840480"/>
            <a:ext cx="307467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76"/>
              </a:lnSpc>
            </a:pPr>
            <a:r>
              <a:rPr lang="en-US" sz="7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300</a:t>
            </a:r>
          </a:p>
        </p:txBody>
      </p:sp>
      <p:sp>
        <p:nvSpPr>
          <p:cNvPr id="59" name="Stat label 59"/>
          <p:cNvSpPr txBox="1"/>
          <p:nvPr/>
        </p:nvSpPr>
        <p:spPr>
          <a:xfrm>
            <a:off x="1344168" y="608076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MW planned across five plants</a:t>
            </a:r>
          </a:p>
        </p:txBody>
      </p:sp>
      <p:sp>
        <p:nvSpPr>
          <p:cNvPr id="60" name="Stat tile 60"/>
          <p:cNvSpPr/>
          <p:nvPr/>
        </p:nvSpPr>
        <p:spPr>
          <a:xfrm>
            <a:off x="5104638" y="3520440"/>
            <a:ext cx="3897630" cy="3200400"/>
          </a:xfrm>
          <a:prstGeom prst="roundRect">
            <a:avLst>
              <a:gd name="adj" fmla="val 2857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sp>
        <p:nvSpPr>
          <p:cNvPr id="61" name="Stat value 61"/>
          <p:cNvSpPr txBox="1"/>
          <p:nvPr/>
        </p:nvSpPr>
        <p:spPr>
          <a:xfrm>
            <a:off x="5516118" y="3840480"/>
            <a:ext cx="307467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76"/>
              </a:lnSpc>
            </a:pPr>
            <a:r>
              <a:rPr lang="en-US" sz="7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160</a:t>
            </a:r>
          </a:p>
        </p:txBody>
      </p:sp>
      <p:sp>
        <p:nvSpPr>
          <p:cNvPr id="62" name="Stat label 62"/>
          <p:cNvSpPr txBox="1"/>
          <p:nvPr/>
        </p:nvSpPr>
        <p:spPr>
          <a:xfrm>
            <a:off x="5516118" y="608076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MW commissioned today</a:t>
            </a:r>
          </a:p>
        </p:txBody>
      </p:sp>
      <p:sp>
        <p:nvSpPr>
          <p:cNvPr id="63" name="Stat tile 63"/>
          <p:cNvSpPr/>
          <p:nvPr/>
        </p:nvSpPr>
        <p:spPr>
          <a:xfrm>
            <a:off x="9276588" y="3520440"/>
            <a:ext cx="3897630" cy="3200400"/>
          </a:xfrm>
          <a:prstGeom prst="roundRect">
            <a:avLst>
              <a:gd name="adj" fmla="val 285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4" name="Stat value 64"/>
          <p:cNvSpPr txBox="1"/>
          <p:nvPr/>
        </p:nvSpPr>
        <p:spPr>
          <a:xfrm>
            <a:off x="9688067" y="3840480"/>
            <a:ext cx="307467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76"/>
              </a:lnSpc>
            </a:pPr>
            <a:r>
              <a:rPr lang="en-US" sz="7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32</a:t>
            </a:r>
          </a:p>
        </p:txBody>
      </p:sp>
      <p:sp>
        <p:nvSpPr>
          <p:cNvPr id="65" name="Stat label 65"/>
          <p:cNvSpPr txBox="1"/>
          <p:nvPr/>
        </p:nvSpPr>
        <p:spPr>
          <a:xfrm>
            <a:off x="9688067" y="608076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engine units on the site plans</a:t>
            </a:r>
          </a:p>
        </p:txBody>
      </p:sp>
      <p:sp>
        <p:nvSpPr>
          <p:cNvPr id="66" name="Stat tile 66"/>
          <p:cNvSpPr/>
          <p:nvPr/>
        </p:nvSpPr>
        <p:spPr>
          <a:xfrm>
            <a:off x="13448538" y="3520440"/>
            <a:ext cx="3897630" cy="3200400"/>
          </a:xfrm>
          <a:prstGeom prst="roundRect">
            <a:avLst>
              <a:gd name="adj" fmla="val 285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7" name="Stat value 67"/>
          <p:cNvSpPr txBox="1"/>
          <p:nvPr/>
        </p:nvSpPr>
        <p:spPr>
          <a:xfrm>
            <a:off x="13860017" y="3840480"/>
            <a:ext cx="307467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76"/>
              </a:lnSpc>
            </a:pPr>
            <a:r>
              <a:rPr lang="en-US" sz="7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5 s</a:t>
            </a:r>
          </a:p>
        </p:txBody>
      </p:sp>
      <p:sp>
        <p:nvSpPr>
          <p:cNvPr id="68" name="Stat label 68"/>
          <p:cNvSpPr txBox="1"/>
          <p:nvPr/>
        </p:nvSpPr>
        <p:spPr>
          <a:xfrm>
            <a:off x="13860017" y="608076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sample interval for live values</a:t>
            </a:r>
          </a:p>
        </p:txBody>
      </p:sp>
      <p:sp>
        <p:nvSpPr>
          <p:cNvPr id="69" name="Note 69"/>
          <p:cNvSpPr txBox="1"/>
          <p:nvPr/>
        </p:nvSpPr>
        <p:spPr>
          <a:xfrm>
            <a:off x="932688" y="7040880"/>
            <a:ext cx="16413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sz="16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Plant names and planned capacities come from the discovery answers. Everything else is demo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6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MONITOR. Fleet overview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One screen for the whole fleet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3750056"/>
            <a:ext cx="1791421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Operations view</a:t>
            </a:r>
          </a:p>
        </p:txBody>
      </p:sp>
      <p:sp>
        <p:nvSpPr>
          <p:cNvPr id="59" name="Tag 59"/>
          <p:cNvSpPr/>
          <p:nvPr/>
        </p:nvSpPr>
        <p:spPr>
          <a:xfrm>
            <a:off x="3355045" y="3750056"/>
            <a:ext cx="1947763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Management view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686299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627880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Attention strip counts critical alarms, unacknowledged alarms and late sites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458459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400039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Live fleet output against the 300 MW plan, with a 24-hour trend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230619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172199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Yemen map with one marker per plant, coloured by alarm and link state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7002779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944359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Management view shows energy, billing, project progress and findings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overvie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7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MONITOR. Site plan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Every plant opens on its own site plan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3750056"/>
            <a:ext cx="1099149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7 zones</a:t>
            </a:r>
          </a:p>
        </p:txBody>
      </p:sp>
      <p:sp>
        <p:nvSpPr>
          <p:cNvPr id="59" name="Tag 59"/>
          <p:cNvSpPr/>
          <p:nvPr/>
        </p:nvSpPr>
        <p:spPr>
          <a:xfrm>
            <a:off x="2662773" y="3750056"/>
            <a:ext cx="1446994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Zone in URL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686299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627880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Engine hall shows each genset coloured by state, with load and exhaust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458459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400039"/>
            <a:ext cx="516993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Tank farm, fuel treatment and switchyard carry live values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230619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172199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Pick a zone to see its readings and open alarms beside the plan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7002779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944359"/>
            <a:ext cx="539471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Camera pins open CCTV; a genset block opens the unit page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sitepl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8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MONITOR. Drill-down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From the fleet map to one alarm in four taps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903220"/>
            <a:ext cx="3096889" cy="3566160"/>
          </a:xfrm>
          <a:prstGeom prst="roundRect">
            <a:avLst>
              <a:gd name="adj" fmla="val 2952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Step no 58"/>
          <p:cNvSpPr txBox="1"/>
          <p:nvPr/>
        </p:nvSpPr>
        <p:spPr>
          <a:xfrm>
            <a:off x="1225296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59" name="Step title 59"/>
          <p:cNvSpPr txBox="1"/>
          <p:nvPr/>
        </p:nvSpPr>
        <p:spPr>
          <a:xfrm>
            <a:off x="1225296" y="4274820"/>
            <a:ext cx="263968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</a:pPr>
            <a:r>
              <a:rPr lang="en-US" sz="19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Fleet map</a:t>
            </a:r>
          </a:p>
        </p:txBody>
      </p:sp>
      <p:sp>
        <p:nvSpPr>
          <p:cNvPr id="60" name="Step desc 60"/>
          <p:cNvSpPr txBox="1"/>
          <p:nvPr/>
        </p:nvSpPr>
        <p:spPr>
          <a:xfrm>
            <a:off x="1225296" y="4777740"/>
            <a:ext cx="2511673" cy="5400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6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Five markers with output, alarm and link state</a:t>
            </a:r>
          </a:p>
        </p:txBody>
      </p:sp>
      <p:sp>
        <p:nvSpPr>
          <p:cNvPr id="61" name="Card 61"/>
          <p:cNvSpPr/>
          <p:nvPr/>
        </p:nvSpPr>
        <p:spPr>
          <a:xfrm>
            <a:off x="4261835" y="2903220"/>
            <a:ext cx="3096889" cy="3566160"/>
          </a:xfrm>
          <a:prstGeom prst="roundRect">
            <a:avLst>
              <a:gd name="adj" fmla="val 2952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2" name="Step no 62"/>
          <p:cNvSpPr txBox="1"/>
          <p:nvPr/>
        </p:nvSpPr>
        <p:spPr>
          <a:xfrm>
            <a:off x="4554443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63" name="Step title 63"/>
          <p:cNvSpPr txBox="1"/>
          <p:nvPr/>
        </p:nvSpPr>
        <p:spPr>
          <a:xfrm>
            <a:off x="4554443" y="4274820"/>
            <a:ext cx="263968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</a:pPr>
            <a:r>
              <a:rPr lang="en-US" sz="19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Plant</a:t>
            </a:r>
          </a:p>
        </p:txBody>
      </p:sp>
      <p:sp>
        <p:nvSpPr>
          <p:cNvPr id="64" name="Step desc 64"/>
          <p:cNvSpPr txBox="1"/>
          <p:nvPr/>
        </p:nvSpPr>
        <p:spPr>
          <a:xfrm>
            <a:off x="4554443" y="4777740"/>
            <a:ext cx="2511673" cy="5400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6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Site plan, units, electrical, fuel, trend, sources</a:t>
            </a:r>
          </a:p>
        </p:txBody>
      </p:sp>
      <p:sp>
        <p:nvSpPr>
          <p:cNvPr id="65" name="Card 65"/>
          <p:cNvSpPr/>
          <p:nvPr/>
        </p:nvSpPr>
        <p:spPr>
          <a:xfrm>
            <a:off x="7590983" y="2903220"/>
            <a:ext cx="3096889" cy="3566160"/>
          </a:xfrm>
          <a:prstGeom prst="roundRect">
            <a:avLst>
              <a:gd name="adj" fmla="val 2952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6" name="Step no 66"/>
          <p:cNvSpPr txBox="1"/>
          <p:nvPr/>
        </p:nvSpPr>
        <p:spPr>
          <a:xfrm>
            <a:off x="7883591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03</a:t>
            </a:r>
          </a:p>
        </p:txBody>
      </p:sp>
      <p:sp>
        <p:nvSpPr>
          <p:cNvPr id="67" name="Step title 67"/>
          <p:cNvSpPr txBox="1"/>
          <p:nvPr/>
        </p:nvSpPr>
        <p:spPr>
          <a:xfrm>
            <a:off x="7883591" y="4274820"/>
            <a:ext cx="263968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</a:pPr>
            <a:r>
              <a:rPr lang="en-US" sz="19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Zone</a:t>
            </a:r>
          </a:p>
        </p:txBody>
      </p:sp>
      <p:sp>
        <p:nvSpPr>
          <p:cNvPr id="68" name="Step desc 68"/>
          <p:cNvSpPr txBox="1"/>
          <p:nvPr/>
        </p:nvSpPr>
        <p:spPr>
          <a:xfrm>
            <a:off x="7883591" y="4777740"/>
            <a:ext cx="2511673" cy="5400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6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Live values and open alarms for that area</a:t>
            </a:r>
          </a:p>
        </p:txBody>
      </p:sp>
      <p:sp>
        <p:nvSpPr>
          <p:cNvPr id="69" name="Card 69"/>
          <p:cNvSpPr/>
          <p:nvPr/>
        </p:nvSpPr>
        <p:spPr>
          <a:xfrm>
            <a:off x="10920130" y="2903220"/>
            <a:ext cx="3096889" cy="3566160"/>
          </a:xfrm>
          <a:prstGeom prst="roundRect">
            <a:avLst>
              <a:gd name="adj" fmla="val 2952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0" name="Step no 70"/>
          <p:cNvSpPr txBox="1"/>
          <p:nvPr/>
        </p:nvSpPr>
        <p:spPr>
          <a:xfrm>
            <a:off x="11212738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04</a:t>
            </a:r>
          </a:p>
        </p:txBody>
      </p:sp>
      <p:sp>
        <p:nvSpPr>
          <p:cNvPr id="71" name="Step title 71"/>
          <p:cNvSpPr txBox="1"/>
          <p:nvPr/>
        </p:nvSpPr>
        <p:spPr>
          <a:xfrm>
            <a:off x="11212738" y="4274820"/>
            <a:ext cx="263968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</a:pPr>
            <a:r>
              <a:rPr lang="en-US" sz="19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Unit</a:t>
            </a:r>
          </a:p>
        </p:txBody>
      </p:sp>
      <p:sp>
        <p:nvSpPr>
          <p:cNvPr id="72" name="Step desc 72"/>
          <p:cNvSpPr txBox="1"/>
          <p:nvPr/>
        </p:nvSpPr>
        <p:spPr>
          <a:xfrm>
            <a:off x="11212738" y="4777740"/>
            <a:ext cx="2511673" cy="5400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6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Exhaust, lube oil and coolant against limits</a:t>
            </a:r>
          </a:p>
        </p:txBody>
      </p:sp>
      <p:sp>
        <p:nvSpPr>
          <p:cNvPr id="73" name="Card 73"/>
          <p:cNvSpPr/>
          <p:nvPr/>
        </p:nvSpPr>
        <p:spPr>
          <a:xfrm>
            <a:off x="14249278" y="2903220"/>
            <a:ext cx="3096889" cy="3566160"/>
          </a:xfrm>
          <a:prstGeom prst="roundRect">
            <a:avLst>
              <a:gd name="adj" fmla="val 2952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4" name="Step no 74"/>
          <p:cNvSpPr txBox="1"/>
          <p:nvPr/>
        </p:nvSpPr>
        <p:spPr>
          <a:xfrm>
            <a:off x="14541886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05</a:t>
            </a:r>
          </a:p>
        </p:txBody>
      </p:sp>
      <p:sp>
        <p:nvSpPr>
          <p:cNvPr id="75" name="Step title 75"/>
          <p:cNvSpPr txBox="1"/>
          <p:nvPr/>
        </p:nvSpPr>
        <p:spPr>
          <a:xfrm>
            <a:off x="14541886" y="4274820"/>
            <a:ext cx="263968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</a:pPr>
            <a:r>
              <a:rPr lang="en-US" sz="19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Alarm</a:t>
            </a:r>
          </a:p>
        </p:txBody>
      </p:sp>
      <p:sp>
        <p:nvSpPr>
          <p:cNvPr id="76" name="Step desc 76"/>
          <p:cNvSpPr txBox="1"/>
          <p:nvPr/>
        </p:nvSpPr>
        <p:spPr>
          <a:xfrm>
            <a:off x="14541886" y="4777740"/>
            <a:ext cx="2511673" cy="5400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6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Next step, escalation path and full history</a:t>
            </a:r>
          </a:p>
        </p:txBody>
      </p:sp>
      <p:sp>
        <p:nvSpPr>
          <p:cNvPr id="77" name="Arrow dot 77"/>
          <p:cNvSpPr/>
          <p:nvPr/>
        </p:nvSpPr>
        <p:spPr>
          <a:xfrm>
            <a:off x="3953682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78" name="Arrow 78"/>
          <p:cNvSpPr/>
          <p:nvPr/>
        </p:nvSpPr>
        <p:spPr>
          <a:xfrm>
            <a:off x="4067982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9" name="Arrow dot 79"/>
          <p:cNvSpPr/>
          <p:nvPr/>
        </p:nvSpPr>
        <p:spPr>
          <a:xfrm>
            <a:off x="7282830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80" name="Arrow 80"/>
          <p:cNvSpPr/>
          <p:nvPr/>
        </p:nvSpPr>
        <p:spPr>
          <a:xfrm>
            <a:off x="7397130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1" name="Arrow dot 81"/>
          <p:cNvSpPr/>
          <p:nvPr/>
        </p:nvSpPr>
        <p:spPr>
          <a:xfrm>
            <a:off x="10611977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82" name="Arrow 82"/>
          <p:cNvSpPr/>
          <p:nvPr/>
        </p:nvSpPr>
        <p:spPr>
          <a:xfrm>
            <a:off x="10726277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3" name="Arrow dot 83"/>
          <p:cNvSpPr/>
          <p:nvPr/>
        </p:nvSpPr>
        <p:spPr>
          <a:xfrm>
            <a:off x="13941125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84" name="Arrow 84"/>
          <p:cNvSpPr/>
          <p:nvPr/>
        </p:nvSpPr>
        <p:spPr>
          <a:xfrm>
            <a:off x="14055425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5" name="Callout 85"/>
          <p:cNvSpPr/>
          <p:nvPr/>
        </p:nvSpPr>
        <p:spPr>
          <a:xfrm>
            <a:off x="932688" y="6789420"/>
            <a:ext cx="16413480" cy="1234440"/>
          </a:xfrm>
          <a:prstGeom prst="roundRect">
            <a:avLst>
              <a:gd name="adj" fmla="val 7407"/>
            </a:avLst>
          </a:prstGeom>
          <a:solidFill>
            <a:srgbClr val="000000">
              <a:alpha val="35294"/>
            </a:srgbClr>
          </a:soli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502920" tIns="0" rIns="502920" bIns="0" anchor="ctr" rtlCol="0">
            <a:noAutofit/>
          </a:bodyPr>
          <a:lstStyle/>
          <a:p>
            <a:pPr algn="l">
              <a:lnSpc>
                <a:spcPts val="2600"/>
              </a:lnSpc>
            </a:pPr>
            <a:r>
              <a:rPr lang="en-US" sz="18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 xml:space="preserve">Back lands where you left. </a:t>
            </a:r>
            <a:r>
              <a:rPr lang="en-US" sz="180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Each level keeps its tab, zone and filters in the URL, so a link opens the same 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9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MONITOR. On a phone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same console runs on a phone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164583"/>
            <a:ext cx="1713153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375 px checked</a:t>
            </a:r>
          </a:p>
        </p:txBody>
      </p:sp>
      <p:pic>
        <p:nvPicPr>
          <p:cNvPr id="59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100827"/>
            <a:ext cx="186944" cy="186944"/>
          </a:xfrm>
          <a:prstGeom prst="rect">
            <a:avLst/>
          </a:prstGeom>
        </p:spPr>
      </p:pic>
      <p:sp>
        <p:nvSpPr>
          <p:cNvPr id="60" name="Bullet 60"/>
          <p:cNvSpPr txBox="1"/>
          <p:nvPr/>
        </p:nvSpPr>
        <p:spPr>
          <a:xfrm>
            <a:off x="1787144" y="5042408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 bottom bar replaces the side menu below tablet width</a:t>
            </a:r>
          </a:p>
        </p:txBody>
      </p:sp>
      <p:pic>
        <p:nvPicPr>
          <p:cNvPr id="61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596635"/>
            <a:ext cx="186944" cy="186944"/>
          </a:xfrm>
          <a:prstGeom prst="rect">
            <a:avLst/>
          </a:prstGeom>
        </p:spPr>
      </p:pic>
      <p:sp>
        <p:nvSpPr>
          <p:cNvPr id="62" name="Bullet 62"/>
          <p:cNvSpPr txBox="1"/>
          <p:nvPr/>
        </p:nvSpPr>
        <p:spPr>
          <a:xfrm>
            <a:off x="1787144" y="5538216"/>
            <a:ext cx="539471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The site plan scales down and zone chips take over selection</a:t>
            </a:r>
          </a:p>
        </p:txBody>
      </p:sp>
      <p:pic>
        <p:nvPicPr>
          <p:cNvPr id="63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368795"/>
            <a:ext cx="186944" cy="186944"/>
          </a:xfrm>
          <a:prstGeom prst="rect">
            <a:avLst/>
          </a:prstGeom>
        </p:spPr>
      </p:pic>
      <p:sp>
        <p:nvSpPr>
          <p:cNvPr id="64" name="Bullet 64"/>
          <p:cNvSpPr txBox="1"/>
          <p:nvPr/>
        </p:nvSpPr>
        <p:spPr>
          <a:xfrm>
            <a:off x="1787144" y="6310376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Filters and menus open as bottom sheets</a:t>
            </a:r>
          </a:p>
        </p:txBody>
      </p:sp>
      <p:pic>
        <p:nvPicPr>
          <p:cNvPr id="65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864603"/>
            <a:ext cx="186944" cy="186944"/>
          </a:xfrm>
          <a:prstGeom prst="rect">
            <a:avLst/>
          </a:prstGeom>
        </p:spPr>
      </p:pic>
      <p:sp>
        <p:nvSpPr>
          <p:cNvPr id="66" name="Bullet 66"/>
          <p:cNvSpPr txBox="1"/>
          <p:nvPr/>
        </p:nvSpPr>
        <p:spPr>
          <a:xfrm>
            <a:off x="1787144" y="6806184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 phone browser is enough; nothing to install</a:t>
            </a:r>
          </a:p>
        </p:txBody>
      </p:sp>
      <p:sp>
        <p:nvSpPr>
          <p:cNvPr id="67" name="Phone bezel 67"/>
          <p:cNvSpPr/>
          <p:nvPr/>
        </p:nvSpPr>
        <p:spPr>
          <a:xfrm>
            <a:off x="7966807" y="2688336"/>
            <a:ext cx="2820858" cy="5870448"/>
          </a:xfrm>
          <a:prstGeom prst="roundRect">
            <a:avLst>
              <a:gd name="adj" fmla="val 11021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8" name="Phone screenshot 1" descr="phone-overvie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7391" y="2788920"/>
            <a:ext cx="2619690" cy="5669280"/>
          </a:xfrm>
          <a:prstGeom prst="roundRect">
            <a:avLst>
              <a:gd name="adj" fmla="val 8726"/>
            </a:avLst>
          </a:prstGeom>
        </p:spPr>
      </p:pic>
      <p:sp>
        <p:nvSpPr>
          <p:cNvPr id="69" name="Phone bezel 69"/>
          <p:cNvSpPr/>
          <p:nvPr/>
        </p:nvSpPr>
        <p:spPr>
          <a:xfrm>
            <a:off x="11043698" y="2688336"/>
            <a:ext cx="2820858" cy="5870448"/>
          </a:xfrm>
          <a:prstGeom prst="roundRect">
            <a:avLst>
              <a:gd name="adj" fmla="val 11021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70" name="Phone screenshot 2" descr="phone-sitepl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4282" y="2788920"/>
            <a:ext cx="2619690" cy="5669280"/>
          </a:xfrm>
          <a:prstGeom prst="roundRect">
            <a:avLst>
              <a:gd name="adj" fmla="val 8726"/>
            </a:avLst>
          </a:prstGeom>
        </p:spPr>
      </p:pic>
      <p:sp>
        <p:nvSpPr>
          <p:cNvPr id="71" name="Phone bezel 71"/>
          <p:cNvSpPr/>
          <p:nvPr/>
        </p:nvSpPr>
        <p:spPr>
          <a:xfrm>
            <a:off x="14120589" y="2688336"/>
            <a:ext cx="2820858" cy="5870448"/>
          </a:xfrm>
          <a:prstGeom prst="roundRect">
            <a:avLst>
              <a:gd name="adj" fmla="val 11021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72" name="Phone screenshot 3" descr="phone-filt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21173" y="2788920"/>
            <a:ext cx="2619690" cy="5669280"/>
          </a:xfrm>
          <a:prstGeom prst="roundRect">
            <a:avLst>
              <a:gd name="adj" fmla="val 8726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10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ALARMS. Lifecycle and data age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How an alarm and a reading move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Lane 57"/>
          <p:cNvSpPr/>
          <p:nvPr/>
        </p:nvSpPr>
        <p:spPr>
          <a:xfrm>
            <a:off x="932688" y="2286000"/>
            <a:ext cx="16413480" cy="3246120"/>
          </a:xfrm>
          <a:prstGeom prst="roundRect">
            <a:avLst>
              <a:gd name="adj" fmla="val 281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Lane label 58"/>
          <p:cNvSpPr txBox="1"/>
          <p:nvPr/>
        </p:nvSpPr>
        <p:spPr>
          <a:xfrm>
            <a:off x="1371600" y="25603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00"/>
              </a:lnSpc>
            </a:pPr>
            <a:r>
              <a:rPr lang="en-US" sz="1200" b="1" spc="15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ALARM LIFECYCLE</a:t>
            </a:r>
          </a:p>
        </p:txBody>
      </p:sp>
      <p:sp>
        <p:nvSpPr>
          <p:cNvPr id="59" name="Node 59"/>
          <p:cNvSpPr/>
          <p:nvPr/>
        </p:nvSpPr>
        <p:spPr>
          <a:xfrm>
            <a:off x="1371600" y="3191256"/>
            <a:ext cx="260604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Alarm raised</a:t>
            </a:r>
          </a:p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(rule on site data)</a:t>
            </a:r>
          </a:p>
        </p:txBody>
      </p:sp>
      <p:sp>
        <p:nvSpPr>
          <p:cNvPr id="60" name="Node 60"/>
          <p:cNvSpPr/>
          <p:nvPr/>
        </p:nvSpPr>
        <p:spPr>
          <a:xfrm>
            <a:off x="4709160" y="3191256"/>
            <a:ext cx="260604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0"/>
              </a:lnSpc>
            </a:pPr>
            <a:r>
              <a:rPr lang="en-US" sz="1433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Acknowledged in Khobar</a:t>
            </a:r>
          </a:p>
        </p:txBody>
      </p:sp>
      <p:sp>
        <p:nvSpPr>
          <p:cNvPr id="61" name="Node 61"/>
          <p:cNvSpPr/>
          <p:nvPr/>
        </p:nvSpPr>
        <p:spPr>
          <a:xfrm>
            <a:off x="10972800" y="3191256"/>
            <a:ext cx="260604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Site crew resolves</a:t>
            </a:r>
          </a:p>
        </p:txBody>
      </p:sp>
      <p:sp>
        <p:nvSpPr>
          <p:cNvPr id="62" name="Node 62"/>
          <p:cNvSpPr/>
          <p:nvPr/>
        </p:nvSpPr>
        <p:spPr>
          <a:xfrm>
            <a:off x="14310360" y="3191256"/>
            <a:ext cx="260604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Closed with</a:t>
            </a:r>
          </a:p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post-incident note</a:t>
            </a:r>
          </a:p>
        </p:txBody>
      </p:sp>
      <p:sp>
        <p:nvSpPr>
          <p:cNvPr id="63" name="Decision 63"/>
          <p:cNvSpPr/>
          <p:nvPr/>
        </p:nvSpPr>
        <p:spPr>
          <a:xfrm>
            <a:off x="8046720" y="2852928"/>
            <a:ext cx="2194560" cy="1426464"/>
          </a:xfrm>
          <a:prstGeom prst="diamond">
            <a:avLst/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550"/>
              </a:lnSpc>
            </a:pPr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Owner</a:t>
            </a:r>
          </a:p>
          <a:p>
            <a:pPr algn="ctr">
              <a:lnSpc>
                <a:spcPts val="1550"/>
              </a:lnSpc>
            </a:pPr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assigned?</a:t>
            </a:r>
          </a:p>
        </p:txBody>
      </p:sp>
      <p:cxnSp>
        <p:nvCxnSpPr>
          <p:cNvPr id="64" name="Connector 64"/>
          <p:cNvCxnSpPr/>
          <p:nvPr/>
        </p:nvCxnSpPr>
        <p:spPr>
          <a:xfrm>
            <a:off x="4050791" y="3566160"/>
            <a:ext cx="585216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cxnSp>
        <p:nvCxnSpPr>
          <p:cNvPr id="65" name="Connector 65"/>
          <p:cNvCxnSpPr/>
          <p:nvPr/>
        </p:nvCxnSpPr>
        <p:spPr>
          <a:xfrm>
            <a:off x="7388352" y="3566160"/>
            <a:ext cx="585216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cxnSp>
        <p:nvCxnSpPr>
          <p:cNvPr id="66" name="Connector 66"/>
          <p:cNvCxnSpPr/>
          <p:nvPr/>
        </p:nvCxnSpPr>
        <p:spPr>
          <a:xfrm>
            <a:off x="10314432" y="3566160"/>
            <a:ext cx="585215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cxnSp>
        <p:nvCxnSpPr>
          <p:cNvPr id="67" name="Connector 67"/>
          <p:cNvCxnSpPr/>
          <p:nvPr/>
        </p:nvCxnSpPr>
        <p:spPr>
          <a:xfrm>
            <a:off x="13651992" y="3566160"/>
            <a:ext cx="585216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sp>
        <p:nvSpPr>
          <p:cNvPr id="68" name="Yes 68"/>
          <p:cNvSpPr txBox="1"/>
          <p:nvPr/>
        </p:nvSpPr>
        <p:spPr>
          <a:xfrm>
            <a:off x="10351008" y="323697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300" b="1">
                <a:solidFill>
                  <a:srgbClr val="2EBD59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Yes</a:t>
            </a:r>
          </a:p>
        </p:txBody>
      </p:sp>
      <p:cxnSp>
        <p:nvCxnSpPr>
          <p:cNvPr id="69" name="Connector 69"/>
          <p:cNvCxnSpPr/>
          <p:nvPr/>
        </p:nvCxnSpPr>
        <p:spPr>
          <a:xfrm>
            <a:off x="9144000" y="4325112"/>
            <a:ext cx="0" cy="210312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sp>
        <p:nvSpPr>
          <p:cNvPr id="70" name="No 70"/>
          <p:cNvSpPr txBox="1"/>
          <p:nvPr/>
        </p:nvSpPr>
        <p:spPr>
          <a:xfrm>
            <a:off x="9272016" y="43159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3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No</a:t>
            </a:r>
          </a:p>
        </p:txBody>
      </p:sp>
      <p:sp>
        <p:nvSpPr>
          <p:cNvPr id="71" name="Node 71"/>
          <p:cNvSpPr/>
          <p:nvPr/>
        </p:nvSpPr>
        <p:spPr>
          <a:xfrm>
            <a:off x="7543800" y="4590288"/>
            <a:ext cx="320040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Escalation timer raises level</a:t>
            </a:r>
          </a:p>
        </p:txBody>
      </p:sp>
      <p:sp>
        <p:nvSpPr>
          <p:cNvPr id="72" name="Note 72"/>
          <p:cNvSpPr txBox="1"/>
          <p:nvPr/>
        </p:nvSpPr>
        <p:spPr>
          <a:xfrm>
            <a:off x="3291840" y="484632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600"/>
              </a:lnSpc>
            </a:pPr>
            <a:r>
              <a:rPr lang="en-US" sz="13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 xml:space="preserve">Level 1 at 30 min </a:t>
            </a:r>
            <a:r>
              <a:rPr lang="en-US" sz="1300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3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 xml:space="preserve"> level 2 at 60 </a:t>
            </a:r>
            <a:r>
              <a:rPr lang="en-US" sz="1300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3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 xml:space="preserve"> level 3 at 120</a:t>
            </a:r>
          </a:p>
        </p:txBody>
      </p:sp>
      <p:sp>
        <p:nvSpPr>
          <p:cNvPr id="73" name="Lane 73"/>
          <p:cNvSpPr/>
          <p:nvPr/>
        </p:nvSpPr>
        <p:spPr>
          <a:xfrm>
            <a:off x="932688" y="5669280"/>
            <a:ext cx="16413480" cy="3246120"/>
          </a:xfrm>
          <a:prstGeom prst="roundRect">
            <a:avLst>
              <a:gd name="adj" fmla="val 281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4" name="Lane label 74"/>
          <p:cNvSpPr txBox="1"/>
          <p:nvPr/>
        </p:nvSpPr>
        <p:spPr>
          <a:xfrm>
            <a:off x="1371600" y="59436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00"/>
              </a:lnSpc>
            </a:pPr>
            <a:r>
              <a:rPr lang="en-US" sz="1200" b="1" spc="15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DATA FRESHNESS</a:t>
            </a:r>
          </a:p>
        </p:txBody>
      </p:sp>
      <p:sp>
        <p:nvSpPr>
          <p:cNvPr id="75" name="Node 75"/>
          <p:cNvSpPr/>
          <p:nvPr/>
        </p:nvSpPr>
        <p:spPr>
          <a:xfrm>
            <a:off x="1371600" y="6574536"/>
            <a:ext cx="260604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Sample arrives</a:t>
            </a:r>
          </a:p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(every 5 s)</a:t>
            </a:r>
          </a:p>
        </p:txBody>
      </p:sp>
      <p:sp>
        <p:nvSpPr>
          <p:cNvPr id="76" name="Node 76"/>
          <p:cNvSpPr/>
          <p:nvPr/>
        </p:nvSpPr>
        <p:spPr>
          <a:xfrm>
            <a:off x="4709160" y="6574536"/>
            <a:ext cx="260604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Age checked</a:t>
            </a:r>
          </a:p>
        </p:txBody>
      </p:sp>
      <p:sp>
        <p:nvSpPr>
          <p:cNvPr id="77" name="Node 77"/>
          <p:cNvSpPr/>
          <p:nvPr/>
        </p:nvSpPr>
        <p:spPr>
          <a:xfrm>
            <a:off x="10972800" y="6574536"/>
            <a:ext cx="260604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Late badge on values</a:t>
            </a:r>
          </a:p>
        </p:txBody>
      </p:sp>
      <p:sp>
        <p:nvSpPr>
          <p:cNvPr id="78" name="Node 78"/>
          <p:cNvSpPr/>
          <p:nvPr/>
        </p:nvSpPr>
        <p:spPr>
          <a:xfrm>
            <a:off x="14310360" y="6574536"/>
            <a:ext cx="260604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Stale banner</a:t>
            </a:r>
          </a:p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after 60 s</a:t>
            </a:r>
          </a:p>
        </p:txBody>
      </p:sp>
      <p:sp>
        <p:nvSpPr>
          <p:cNvPr id="79" name="Decision 79"/>
          <p:cNvSpPr/>
          <p:nvPr/>
        </p:nvSpPr>
        <p:spPr>
          <a:xfrm>
            <a:off x="8046720" y="6236207"/>
            <a:ext cx="2194560" cy="1426464"/>
          </a:xfrm>
          <a:prstGeom prst="diamond">
            <a:avLst/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550"/>
              </a:lnSpc>
            </a:pPr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Older than</a:t>
            </a:r>
          </a:p>
          <a:p>
            <a:pPr algn="ctr">
              <a:lnSpc>
                <a:spcPts val="1550"/>
              </a:lnSpc>
            </a:pPr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15 s?</a:t>
            </a:r>
          </a:p>
        </p:txBody>
      </p:sp>
      <p:cxnSp>
        <p:nvCxnSpPr>
          <p:cNvPr id="80" name="Connector 80"/>
          <p:cNvCxnSpPr/>
          <p:nvPr/>
        </p:nvCxnSpPr>
        <p:spPr>
          <a:xfrm>
            <a:off x="4050791" y="6949440"/>
            <a:ext cx="585216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cxnSp>
        <p:nvCxnSpPr>
          <p:cNvPr id="81" name="Connector 81"/>
          <p:cNvCxnSpPr/>
          <p:nvPr/>
        </p:nvCxnSpPr>
        <p:spPr>
          <a:xfrm>
            <a:off x="7388352" y="6949440"/>
            <a:ext cx="585216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cxnSp>
        <p:nvCxnSpPr>
          <p:cNvPr id="82" name="Connector 82"/>
          <p:cNvCxnSpPr/>
          <p:nvPr/>
        </p:nvCxnSpPr>
        <p:spPr>
          <a:xfrm>
            <a:off x="10314432" y="6949440"/>
            <a:ext cx="585215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cxnSp>
        <p:nvCxnSpPr>
          <p:cNvPr id="83" name="Connector 83"/>
          <p:cNvCxnSpPr/>
          <p:nvPr/>
        </p:nvCxnSpPr>
        <p:spPr>
          <a:xfrm>
            <a:off x="13651992" y="6949440"/>
            <a:ext cx="585216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sp>
        <p:nvSpPr>
          <p:cNvPr id="84" name="Yes 84"/>
          <p:cNvSpPr txBox="1"/>
          <p:nvPr/>
        </p:nvSpPr>
        <p:spPr>
          <a:xfrm>
            <a:off x="10351008" y="662025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300" b="1">
                <a:solidFill>
                  <a:srgbClr val="2EBD59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Yes</a:t>
            </a:r>
          </a:p>
        </p:txBody>
      </p:sp>
      <p:cxnSp>
        <p:nvCxnSpPr>
          <p:cNvPr id="85" name="Connector 85"/>
          <p:cNvCxnSpPr/>
          <p:nvPr/>
        </p:nvCxnSpPr>
        <p:spPr>
          <a:xfrm>
            <a:off x="9144000" y="7708392"/>
            <a:ext cx="0" cy="210312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sp>
        <p:nvSpPr>
          <p:cNvPr id="86" name="No 86"/>
          <p:cNvSpPr txBox="1"/>
          <p:nvPr/>
        </p:nvSpPr>
        <p:spPr>
          <a:xfrm>
            <a:off x="9272016" y="7699247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3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No</a:t>
            </a:r>
          </a:p>
        </p:txBody>
      </p:sp>
      <p:sp>
        <p:nvSpPr>
          <p:cNvPr id="87" name="Node 87"/>
          <p:cNvSpPr/>
          <p:nvPr/>
        </p:nvSpPr>
        <p:spPr>
          <a:xfrm>
            <a:off x="7543800" y="7973568"/>
            <a:ext cx="320040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Fresh value shown</a:t>
            </a:r>
          </a:p>
        </p:txBody>
      </p:sp>
      <p:sp>
        <p:nvSpPr>
          <p:cNvPr id="88" name="Note 88"/>
          <p:cNvSpPr txBox="1"/>
          <p:nvPr/>
        </p:nvSpPr>
        <p:spPr>
          <a:xfrm>
            <a:off x="11064240" y="7507223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00"/>
              </a:lnSpc>
            </a:pPr>
            <a:r>
              <a:rPr lang="en-US" sz="13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Offline sites keep their last values, marked stale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11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ALARMS. Filtering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Find any alarm in two taps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3888232"/>
            <a:ext cx="1466329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Multi-select</a:t>
            </a:r>
          </a:p>
        </p:txBody>
      </p:sp>
      <p:sp>
        <p:nvSpPr>
          <p:cNvPr id="59" name="Tag 59"/>
          <p:cNvSpPr/>
          <p:nvPr/>
        </p:nvSpPr>
        <p:spPr>
          <a:xfrm>
            <a:off x="3029953" y="3888232"/>
            <a:ext cx="1552155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Filters in URL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824476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76605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Filter by plant, priority, cause, owner, escalation level and time raised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596635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53821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Each option shows how many alarms it would add before you pick it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368795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310376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Active filters sit as chips you can remove one by one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864603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806184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Quick views: unowned critical and high, assigned to me, escalated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alarms-filt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12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ALARMS. Alarm detail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next step is always the main button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3888232"/>
            <a:ext cx="1089256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4 steps</a:t>
            </a:r>
          </a:p>
        </p:txBody>
      </p:sp>
      <p:sp>
        <p:nvSpPr>
          <p:cNvPr id="59" name="Tag 59"/>
          <p:cNvSpPr/>
          <p:nvPr/>
        </p:nvSpPr>
        <p:spPr>
          <a:xfrm>
            <a:off x="2652880" y="3888232"/>
            <a:ext cx="2415344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Blocked actions say why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824476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76605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Acknowledge, assign, resolve and close in order, each with a toast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596635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53821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Critical and high alarms need a post-incident note before closing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368795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310376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Escalation path shows who gets it next and when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864603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806184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History records every action with the person or the timer behind it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alarm-det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13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INSIGHTS. Findings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console points at what to fix first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3888232"/>
            <a:ext cx="1331772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17 findings</a:t>
            </a:r>
          </a:p>
        </p:txBody>
      </p:sp>
      <p:sp>
        <p:nvSpPr>
          <p:cNvPr id="59" name="Tag 59"/>
          <p:cNvSpPr/>
          <p:nvPr/>
        </p:nvSpPr>
        <p:spPr>
          <a:xfrm>
            <a:off x="2895396" y="3888232"/>
            <a:ext cx="1852340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Most urgent first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824476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76605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Rules turn readings and 30 days of history into ranked findings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596635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53821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Each finding names the plant, the number and the page with the detail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368795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31037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Examples: 16 MW out of service, 48 h of fuel left, comms losses tripled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7140955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7082535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Overview and plant pages show their top findings too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insigh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14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INSIGHTS. Charts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charts behind each finding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026408"/>
            <a:ext cx="1398973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Generation</a:t>
            </a:r>
          </a:p>
        </p:txBody>
      </p:sp>
      <p:sp>
        <p:nvSpPr>
          <p:cNvPr id="59" name="Tag 59"/>
          <p:cNvSpPr/>
          <p:nvPr/>
        </p:nvSpPr>
        <p:spPr>
          <a:xfrm>
            <a:off x="2962597" y="4026408"/>
            <a:ext cx="840935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Fuel</a:t>
            </a:r>
          </a:p>
        </p:txBody>
      </p:sp>
      <p:sp>
        <p:nvSpPr>
          <p:cNvPr id="60" name="Tag 60"/>
          <p:cNvSpPr/>
          <p:nvPr/>
        </p:nvSpPr>
        <p:spPr>
          <a:xfrm>
            <a:off x="3949836" y="4026408"/>
            <a:ext cx="1076706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Alarms</a:t>
            </a:r>
          </a:p>
        </p:txBody>
      </p:sp>
      <p:pic>
        <p:nvPicPr>
          <p:cNvPr id="61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962651"/>
            <a:ext cx="186944" cy="186944"/>
          </a:xfrm>
          <a:prstGeom prst="rect">
            <a:avLst/>
          </a:prstGeom>
        </p:spPr>
      </p:pic>
      <p:sp>
        <p:nvSpPr>
          <p:cNvPr id="62" name="Bullet 62"/>
          <p:cNvSpPr txBox="1"/>
          <p:nvPr/>
        </p:nvSpPr>
        <p:spPr>
          <a:xfrm>
            <a:off x="1787144" y="4904232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Where the 300 MW goes: generating, idle, out of service, not built</a:t>
            </a:r>
          </a:p>
        </p:txBody>
      </p:sp>
      <p:pic>
        <p:nvPicPr>
          <p:cNvPr id="63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734811"/>
            <a:ext cx="186944" cy="186944"/>
          </a:xfrm>
          <a:prstGeom prst="rect">
            <a:avLst/>
          </a:prstGeom>
        </p:spPr>
      </p:pic>
      <p:sp>
        <p:nvSpPr>
          <p:cNvPr id="64" name="Bullet 64"/>
          <p:cNvSpPr txBox="1"/>
          <p:nvPr/>
        </p:nvSpPr>
        <p:spPr>
          <a:xfrm>
            <a:off x="1787144" y="5676392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Availability heatmap per plant per day over 30 days</a:t>
            </a:r>
          </a:p>
        </p:txBody>
      </p:sp>
      <p:pic>
        <p:nvPicPr>
          <p:cNvPr id="65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230619"/>
            <a:ext cx="186944" cy="186944"/>
          </a:xfrm>
          <a:prstGeom prst="rect">
            <a:avLst/>
          </a:prstGeom>
        </p:spPr>
      </p:pic>
      <p:sp>
        <p:nvSpPr>
          <p:cNvPr id="66" name="Bullet 66"/>
          <p:cNvSpPr txBox="1"/>
          <p:nvPr/>
        </p:nvSpPr>
        <p:spPr>
          <a:xfrm>
            <a:off x="1787144" y="6172200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Fuel per kWh against the 215 g/kWh baseline</a:t>
            </a:r>
          </a:p>
        </p:txBody>
      </p:sp>
      <p:pic>
        <p:nvPicPr>
          <p:cNvPr id="67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726427"/>
            <a:ext cx="186944" cy="186944"/>
          </a:xfrm>
          <a:prstGeom prst="rect">
            <a:avLst/>
          </a:prstGeom>
        </p:spPr>
      </p:pic>
      <p:sp>
        <p:nvSpPr>
          <p:cNvPr id="68" name="Bullet 68"/>
          <p:cNvSpPr txBox="1"/>
          <p:nvPr/>
        </p:nvSpPr>
        <p:spPr>
          <a:xfrm>
            <a:off x="1787144" y="6668008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Alarm causes, share by plant, busiest hour and response times</a:t>
            </a:r>
          </a:p>
        </p:txBody>
      </p:sp>
      <p:sp>
        <p:nvSpPr>
          <p:cNvPr id="69" name="Screen bezel 69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70" name="Screenshot" descr="insights-genera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15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ACCESS. Roles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Each role sees only the actions it can take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327148"/>
            <a:ext cx="16413480" cy="2167128"/>
          </a:xfrm>
          <a:prstGeom prst="roundRect">
            <a:avLst>
              <a:gd name="adj" fmla="val 4219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sp>
        <p:nvSpPr>
          <p:cNvPr id="58" name="Card head 58"/>
          <p:cNvSpPr txBox="1"/>
          <p:nvPr/>
        </p:nvSpPr>
        <p:spPr>
          <a:xfrm>
            <a:off x="1344168" y="2674620"/>
            <a:ext cx="15590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0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Command Center operator</a:t>
            </a:r>
          </a:p>
        </p:txBody>
      </p:sp>
      <p:sp>
        <p:nvSpPr>
          <p:cNvPr id="59" name="No 59"/>
          <p:cNvSpPr txBox="1"/>
          <p:nvPr/>
        </p:nvSpPr>
        <p:spPr>
          <a:xfrm>
            <a:off x="1344168" y="337870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60" name="Item 60"/>
          <p:cNvSpPr txBox="1"/>
          <p:nvPr/>
        </p:nvSpPr>
        <p:spPr>
          <a:xfrm>
            <a:off x="2029967" y="3378708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Acknowledges, assigns, resolves and closes alarms</a:t>
            </a:r>
          </a:p>
        </p:txBody>
      </p:sp>
      <p:sp>
        <p:nvSpPr>
          <p:cNvPr id="61" name="No 61"/>
          <p:cNvSpPr txBox="1"/>
          <p:nvPr/>
        </p:nvSpPr>
        <p:spPr>
          <a:xfrm>
            <a:off x="1344168" y="383590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62" name="Item 62"/>
          <p:cNvSpPr txBox="1"/>
          <p:nvPr/>
        </p:nvSpPr>
        <p:spPr>
          <a:xfrm>
            <a:off x="2029967" y="3835908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Exports reports</a:t>
            </a:r>
          </a:p>
        </p:txBody>
      </p:sp>
      <p:sp>
        <p:nvSpPr>
          <p:cNvPr id="63" name="Card 63"/>
          <p:cNvSpPr/>
          <p:nvPr/>
        </p:nvSpPr>
        <p:spPr>
          <a:xfrm>
            <a:off x="932688" y="4768596"/>
            <a:ext cx="16413480" cy="2167128"/>
          </a:xfrm>
          <a:prstGeom prst="roundRect">
            <a:avLst>
              <a:gd name="adj" fmla="val 421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4" name="Card head 64"/>
          <p:cNvSpPr txBox="1"/>
          <p:nvPr/>
        </p:nvSpPr>
        <p:spPr>
          <a:xfrm>
            <a:off x="1344168" y="5116068"/>
            <a:ext cx="15590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0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Site O&amp;M and project managers</a:t>
            </a:r>
          </a:p>
        </p:txBody>
      </p:sp>
      <p:sp>
        <p:nvSpPr>
          <p:cNvPr id="65" name="No 65"/>
          <p:cNvSpPr txBox="1"/>
          <p:nvPr/>
        </p:nvSpPr>
        <p:spPr>
          <a:xfrm>
            <a:off x="1344168" y="58201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66" name="Item 66"/>
          <p:cNvSpPr txBox="1"/>
          <p:nvPr/>
        </p:nvSpPr>
        <p:spPr>
          <a:xfrm>
            <a:off x="2029967" y="5820156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O&amp;M acknowledges and resolves alarms</a:t>
            </a:r>
          </a:p>
        </p:txBody>
      </p:sp>
      <p:sp>
        <p:nvSpPr>
          <p:cNvPr id="67" name="No 67"/>
          <p:cNvSpPr txBox="1"/>
          <p:nvPr/>
        </p:nvSpPr>
        <p:spPr>
          <a:xfrm>
            <a:off x="1344168" y="62773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68" name="Item 68"/>
          <p:cNvSpPr txBox="1"/>
          <p:nvPr/>
        </p:nvSpPr>
        <p:spPr>
          <a:xfrm>
            <a:off x="2029967" y="6277356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Both record site progress with photos</a:t>
            </a:r>
          </a:p>
        </p:txBody>
      </p:sp>
      <p:sp>
        <p:nvSpPr>
          <p:cNvPr id="69" name="Card 69"/>
          <p:cNvSpPr/>
          <p:nvPr/>
        </p:nvSpPr>
        <p:spPr>
          <a:xfrm>
            <a:off x="932688" y="7210044"/>
            <a:ext cx="16413480" cy="1709928"/>
          </a:xfrm>
          <a:prstGeom prst="roundRect">
            <a:avLst>
              <a:gd name="adj" fmla="val 534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0" name="Card head 70"/>
          <p:cNvSpPr txBox="1"/>
          <p:nvPr/>
        </p:nvSpPr>
        <p:spPr>
          <a:xfrm>
            <a:off x="1344168" y="7557516"/>
            <a:ext cx="15590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0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Senior management</a:t>
            </a:r>
          </a:p>
        </p:txBody>
      </p:sp>
      <p:sp>
        <p:nvSpPr>
          <p:cNvPr id="71" name="No 71"/>
          <p:cNvSpPr txBox="1"/>
          <p:nvPr/>
        </p:nvSpPr>
        <p:spPr>
          <a:xfrm>
            <a:off x="1344168" y="826160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72" name="Item 72"/>
          <p:cNvSpPr txBox="1"/>
          <p:nvPr/>
        </p:nvSpPr>
        <p:spPr>
          <a:xfrm>
            <a:off x="2029967" y="8261604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Reads every screen and exports reports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/>
      <p:grpSp>
        <p:nvGrpSpPr>
          <p:cNvPr name="Group 41" id="41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46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ACCESS. Screens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2844" y="9381859"/>
            <a:ext cx="16402311" cy="217503"/>
            <a:chOff x="0" y="0"/>
            <a:chExt cx="21869749" cy="290004"/>
          </a:xfrm>
        </p:grpSpPr>
        <p:sp>
          <p:nvSpPr>
            <p:cNvPr name="ftr_left" id="50"/>
            <p:cNvSpPr txBox="true"/>
            <p:nvPr/>
          </p:nvSpPr>
          <p:spPr>
            <a:xfrm rot="0">
              <a:off x="2249988" y="6669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16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6082239" y="6669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0889" cy="288051"/>
            </a:xfrm>
            <a:custGeom>
              <a:avLst/>
              <a:gdLst/>
              <a:ahLst/>
              <a:cxnLst/>
              <a:rect r="r" b="b" t="t" l="l"/>
              <a:pathLst>
                <a:path h="288051" w="920889">
                  <a:moveTo>
                    <a:pt x="0" y="0"/>
                  </a:moveTo>
                  <a:lnTo>
                    <a:pt x="920889" y="0"/>
                  </a:lnTo>
                  <a:lnTo>
                    <a:pt x="920889" y="288051"/>
                  </a:lnTo>
                  <a:lnTo>
                    <a:pt x="0" y="288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id="53" name="Title 53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Thirteen screens in the prototype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graphicFrame>
        <p:nvGraphicFramePr>
          <p:cNvPr id="54" name="Table"/>
          <p:cNvGraphicFramePr>
            <a:graphicFrameLocks noGrp="1"/>
          </p:cNvGraphicFramePr>
          <p:nvPr/>
        </p:nvGraphicFramePr>
        <p:xfrm>
          <a:off x="932688" y="2377440"/>
          <a:ext cx="16413480" cy="6035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924044"/>
                <a:gridCol w="11489436"/>
              </a:tblGrid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Screen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What it shows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Fleet overview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Operations and management views, map, findings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Plants and plant detail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Site plan, units, electrical, fuel, 24 h trend, data sources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Unit detail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Exhaust, lube oil and coolant gauges, alarm history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Alarms and alarm detail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Filters and quick views, lifecycle, escalation, history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Insights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Findings, capacity split, heatmap, fuel and alarm analytics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Fuel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Tank stock, hours of supply, fuel per kWh, supply and return balance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Projects and project detail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Milestones, issues, site photos, progress entry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CCTV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Camera tiles per plant (placeholders)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Reports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Daily, weekly and monthly summary, plant comparison, billing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Data sources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Interface matrix, alarm register, escalation matrix, platform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17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NEXT. Status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Where the prototype stands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955036"/>
            <a:ext cx="3897630" cy="5108448"/>
          </a:xfrm>
          <a:prstGeom prst="roundRect">
            <a:avLst>
              <a:gd name="adj" fmla="val 234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Status 58"/>
          <p:cNvSpPr/>
          <p:nvPr/>
        </p:nvSpPr>
        <p:spPr>
          <a:xfrm>
            <a:off x="1298448" y="3320796"/>
            <a:ext cx="1108181" cy="365760"/>
          </a:xfrm>
          <a:prstGeom prst="roundRect">
            <a:avLst>
              <a:gd name="adj" fmla="val 50000"/>
            </a:avLst>
          </a:prstGeom>
          <a:solidFill>
            <a:srgbClr val="2EBD5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1" spc="10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DONE</a:t>
            </a:r>
          </a:p>
        </p:txBody>
      </p:sp>
      <p:sp>
        <p:nvSpPr>
          <p:cNvPr id="59" name="Col head 59"/>
          <p:cNvSpPr txBox="1"/>
          <p:nvPr/>
        </p:nvSpPr>
        <p:spPr>
          <a:xfrm>
            <a:off x="1298448" y="3915156"/>
            <a:ext cx="325755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Built</a:t>
            </a:r>
          </a:p>
        </p:txBody>
      </p:sp>
      <p:sp>
        <p:nvSpPr>
          <p:cNvPr id="60" name="Col sub 60"/>
          <p:cNvSpPr txBox="1"/>
          <p:nvPr/>
        </p:nvSpPr>
        <p:spPr>
          <a:xfrm>
            <a:off x="1298448" y="4491228"/>
            <a:ext cx="325755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7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Frontend prototype</a:t>
            </a:r>
          </a:p>
        </p:txBody>
      </p:sp>
      <p:cxnSp>
        <p:nvCxnSpPr>
          <p:cNvPr id="61" name="Rule 61"/>
          <p:cNvCxnSpPr/>
          <p:nvPr/>
        </p:nvCxnSpPr>
        <p:spPr>
          <a:xfrm>
            <a:off x="1298448" y="5058156"/>
            <a:ext cx="3166110" cy="0"/>
          </a:xfrm>
          <a:prstGeom prst="line">
            <a:avLst/>
          </a:prstGeom>
          <a:ln w="9525" cap="rnd">
            <a:solidFill>
              <a:srgbClr val="FFFFFF">
                <a:alpha val="35000"/>
              </a:srgbClr>
            </a:solidFill>
            <a:prstDash val="solid"/>
            <a:round/>
          </a:ln>
        </p:spPr>
      </p:cxn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" y="5385308"/>
            <a:ext cx="163576" cy="163576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644904" y="5332476"/>
            <a:ext cx="2794650" cy="520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Thirteen screens, phone to desktop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" y="6051804"/>
            <a:ext cx="163576" cy="163576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644904" y="5998972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Simulated live telemetry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" y="6476492"/>
            <a:ext cx="163576" cy="163576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644904" y="6423660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Alarm lifecycle and escalation</a:t>
            </a:r>
          </a:p>
        </p:txBody>
      </p:sp>
      <p:pic>
        <p:nvPicPr>
          <p:cNvPr id="68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" y="6901179"/>
            <a:ext cx="163576" cy="163576"/>
          </a:xfrm>
          <a:prstGeom prst="rect">
            <a:avLst/>
          </a:prstGeom>
        </p:spPr>
      </p:pic>
      <p:sp>
        <p:nvSpPr>
          <p:cNvPr id="69" name="Bullet 69"/>
          <p:cNvSpPr txBox="1"/>
          <p:nvPr/>
        </p:nvSpPr>
        <p:spPr>
          <a:xfrm>
            <a:off x="1644904" y="6848348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Insights, site plan, filters</a:t>
            </a:r>
          </a:p>
        </p:txBody>
      </p:sp>
      <p:pic>
        <p:nvPicPr>
          <p:cNvPr id="7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" y="7325868"/>
            <a:ext cx="163576" cy="163576"/>
          </a:xfrm>
          <a:prstGeom prst="rect">
            <a:avLst/>
          </a:prstGeom>
        </p:spPr>
      </p:pic>
      <p:sp>
        <p:nvSpPr>
          <p:cNvPr id="71" name="Bullet 71"/>
          <p:cNvSpPr txBox="1"/>
          <p:nvPr/>
        </p:nvSpPr>
        <p:spPr>
          <a:xfrm>
            <a:off x="1644904" y="7273036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Role-based views</a:t>
            </a:r>
          </a:p>
        </p:txBody>
      </p:sp>
      <p:sp>
        <p:nvSpPr>
          <p:cNvPr id="72" name="Card 72"/>
          <p:cNvSpPr/>
          <p:nvPr/>
        </p:nvSpPr>
        <p:spPr>
          <a:xfrm>
            <a:off x="5104638" y="2955036"/>
            <a:ext cx="3897630" cy="5108448"/>
          </a:xfrm>
          <a:prstGeom prst="roundRect">
            <a:avLst>
              <a:gd name="adj" fmla="val 2346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sp>
        <p:nvSpPr>
          <p:cNvPr id="73" name="Status 73"/>
          <p:cNvSpPr/>
          <p:nvPr/>
        </p:nvSpPr>
        <p:spPr>
          <a:xfrm>
            <a:off x="5470398" y="3320796"/>
            <a:ext cx="1875514" cy="365760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1" spc="10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WAITING ON GPI</a:t>
            </a:r>
          </a:p>
        </p:txBody>
      </p:sp>
      <p:sp>
        <p:nvSpPr>
          <p:cNvPr id="74" name="Col head 74"/>
          <p:cNvSpPr txBox="1"/>
          <p:nvPr/>
        </p:nvSpPr>
        <p:spPr>
          <a:xfrm>
            <a:off x="5470398" y="3915156"/>
            <a:ext cx="325755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Inputs</a:t>
            </a:r>
          </a:p>
        </p:txBody>
      </p:sp>
      <p:sp>
        <p:nvSpPr>
          <p:cNvPr id="75" name="Col sub 75"/>
          <p:cNvSpPr txBox="1"/>
          <p:nvPr/>
        </p:nvSpPr>
        <p:spPr>
          <a:xfrm>
            <a:off x="5470398" y="4491228"/>
            <a:ext cx="325755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7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To replace demo values</a:t>
            </a:r>
          </a:p>
        </p:txBody>
      </p:sp>
      <p:cxnSp>
        <p:nvCxnSpPr>
          <p:cNvPr id="76" name="Rule 76"/>
          <p:cNvCxnSpPr/>
          <p:nvPr/>
        </p:nvCxnSpPr>
        <p:spPr>
          <a:xfrm>
            <a:off x="5470398" y="5058156"/>
            <a:ext cx="3166109" cy="0"/>
          </a:xfrm>
          <a:prstGeom prst="line">
            <a:avLst/>
          </a:prstGeom>
          <a:ln w="9525" cap="rnd">
            <a:solidFill>
              <a:srgbClr val="FFFFFF">
                <a:alpha val="35000"/>
              </a:srgbClr>
            </a:solidFill>
            <a:prstDash val="solid"/>
            <a:round/>
          </a:ln>
        </p:spPr>
      </p:cxnSp>
      <p:sp>
        <p:nvSpPr>
          <p:cNvPr id="77" name="Ring 77"/>
          <p:cNvSpPr/>
          <p:nvPr/>
        </p:nvSpPr>
        <p:spPr>
          <a:xfrm>
            <a:off x="5493298" y="5408208"/>
            <a:ext cx="117774" cy="117774"/>
          </a:xfrm>
          <a:prstGeom prst="ellipse">
            <a:avLst/>
          </a:prstGeom>
          <a:noFill/>
          <a:ln w="19050" cap="rnd">
            <a:solidFill>
              <a:srgbClr val="ED1C24"/>
            </a:solidFill>
            <a:prstDash val="solid"/>
            <a:round/>
          </a:ln>
        </p:spPr>
      </p:sp>
      <p:sp>
        <p:nvSpPr>
          <p:cNvPr id="78" name="Bullet 78"/>
          <p:cNvSpPr txBox="1"/>
          <p:nvPr/>
        </p:nvSpPr>
        <p:spPr>
          <a:xfrm>
            <a:off x="5816854" y="5332476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Logo file and final palette</a:t>
            </a:r>
          </a:p>
        </p:txBody>
      </p:sp>
      <p:sp>
        <p:nvSpPr>
          <p:cNvPr id="79" name="Ring 79"/>
          <p:cNvSpPr/>
          <p:nvPr/>
        </p:nvSpPr>
        <p:spPr>
          <a:xfrm>
            <a:off x="5493298" y="5832896"/>
            <a:ext cx="117774" cy="117774"/>
          </a:xfrm>
          <a:prstGeom prst="ellipse">
            <a:avLst/>
          </a:prstGeom>
          <a:noFill/>
          <a:ln w="19050" cap="rnd">
            <a:solidFill>
              <a:srgbClr val="ED1C24"/>
            </a:solidFill>
            <a:prstDash val="solid"/>
            <a:round/>
          </a:ln>
        </p:spPr>
      </p:sp>
      <p:sp>
        <p:nvSpPr>
          <p:cNvPr id="80" name="Bullet 80"/>
          <p:cNvSpPr txBox="1"/>
          <p:nvPr/>
        </p:nvSpPr>
        <p:spPr>
          <a:xfrm>
            <a:off x="5816854" y="5757164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Plant coordinates</a:t>
            </a:r>
          </a:p>
        </p:txBody>
      </p:sp>
      <p:sp>
        <p:nvSpPr>
          <p:cNvPr id="81" name="Ring 81"/>
          <p:cNvSpPr/>
          <p:nvPr/>
        </p:nvSpPr>
        <p:spPr>
          <a:xfrm>
            <a:off x="5493298" y="6257584"/>
            <a:ext cx="117774" cy="117774"/>
          </a:xfrm>
          <a:prstGeom prst="ellipse">
            <a:avLst/>
          </a:prstGeom>
          <a:noFill/>
          <a:ln w="19050" cap="rnd">
            <a:solidFill>
              <a:srgbClr val="ED1C24"/>
            </a:solidFill>
            <a:prstDash val="solid"/>
            <a:round/>
          </a:ln>
        </p:spPr>
      </p:sp>
      <p:sp>
        <p:nvSpPr>
          <p:cNvPr id="82" name="Bullet 82"/>
          <p:cNvSpPr txBox="1"/>
          <p:nvPr/>
        </p:nvSpPr>
        <p:spPr>
          <a:xfrm>
            <a:off x="5816854" y="6181852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As-built site drawings</a:t>
            </a:r>
          </a:p>
        </p:txBody>
      </p:sp>
      <p:sp>
        <p:nvSpPr>
          <p:cNvPr id="83" name="Ring 83"/>
          <p:cNvSpPr/>
          <p:nvPr/>
        </p:nvSpPr>
        <p:spPr>
          <a:xfrm>
            <a:off x="5493298" y="6682272"/>
            <a:ext cx="117774" cy="117774"/>
          </a:xfrm>
          <a:prstGeom prst="ellipse">
            <a:avLst/>
          </a:prstGeom>
          <a:noFill/>
          <a:ln w="19050" cap="rnd">
            <a:solidFill>
              <a:srgbClr val="ED1C24"/>
            </a:solidFill>
            <a:prstDash val="solid"/>
            <a:round/>
          </a:ln>
        </p:spPr>
      </p:sp>
      <p:sp>
        <p:nvSpPr>
          <p:cNvPr id="84" name="Bullet 84"/>
          <p:cNvSpPr txBox="1"/>
          <p:nvPr/>
        </p:nvSpPr>
        <p:spPr>
          <a:xfrm>
            <a:off x="5816854" y="6606540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Approved alarm thresholds</a:t>
            </a:r>
          </a:p>
        </p:txBody>
      </p:sp>
      <p:sp>
        <p:nvSpPr>
          <p:cNvPr id="85" name="Ring 85"/>
          <p:cNvSpPr/>
          <p:nvPr/>
        </p:nvSpPr>
        <p:spPr>
          <a:xfrm>
            <a:off x="5493298" y="7106960"/>
            <a:ext cx="117774" cy="117774"/>
          </a:xfrm>
          <a:prstGeom prst="ellipse">
            <a:avLst/>
          </a:prstGeom>
          <a:noFill/>
          <a:ln w="19050" cap="rnd">
            <a:solidFill>
              <a:srgbClr val="ED1C24"/>
            </a:solidFill>
            <a:prstDash val="solid"/>
            <a:round/>
          </a:ln>
        </p:spPr>
      </p:sp>
      <p:sp>
        <p:nvSpPr>
          <p:cNvPr id="86" name="Bullet 86"/>
          <p:cNvSpPr txBox="1"/>
          <p:nvPr/>
        </p:nvSpPr>
        <p:spPr>
          <a:xfrm>
            <a:off x="5816854" y="7031227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Fuel and availability targets</a:t>
            </a:r>
          </a:p>
        </p:txBody>
      </p:sp>
      <p:sp>
        <p:nvSpPr>
          <p:cNvPr id="87" name="Card 87"/>
          <p:cNvSpPr/>
          <p:nvPr/>
        </p:nvSpPr>
        <p:spPr>
          <a:xfrm>
            <a:off x="9276588" y="2955036"/>
            <a:ext cx="3897630" cy="5108448"/>
          </a:xfrm>
          <a:prstGeom prst="roundRect">
            <a:avLst>
              <a:gd name="adj" fmla="val 234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88" name="Status 88"/>
          <p:cNvSpPr/>
          <p:nvPr/>
        </p:nvSpPr>
        <p:spPr>
          <a:xfrm>
            <a:off x="9642348" y="3320796"/>
            <a:ext cx="129277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1" spc="10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PHASE 2</a:t>
            </a:r>
          </a:p>
        </p:txBody>
      </p:sp>
      <p:sp>
        <p:nvSpPr>
          <p:cNvPr id="89" name="Col head 89"/>
          <p:cNvSpPr txBox="1"/>
          <p:nvPr/>
        </p:nvSpPr>
        <p:spPr>
          <a:xfrm>
            <a:off x="9642348" y="3915156"/>
            <a:ext cx="325755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Backend</a:t>
            </a:r>
          </a:p>
        </p:txBody>
      </p:sp>
      <p:sp>
        <p:nvSpPr>
          <p:cNvPr id="90" name="Col sub 90"/>
          <p:cNvSpPr txBox="1"/>
          <p:nvPr/>
        </p:nvSpPr>
        <p:spPr>
          <a:xfrm>
            <a:off x="9642348" y="4491228"/>
            <a:ext cx="325755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7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Real data</a:t>
            </a:r>
          </a:p>
        </p:txBody>
      </p:sp>
      <p:cxnSp>
        <p:nvCxnSpPr>
          <p:cNvPr id="91" name="Rule 91"/>
          <p:cNvCxnSpPr/>
          <p:nvPr/>
        </p:nvCxnSpPr>
        <p:spPr>
          <a:xfrm>
            <a:off x="9642348" y="5058156"/>
            <a:ext cx="3166109" cy="0"/>
          </a:xfrm>
          <a:prstGeom prst="line">
            <a:avLst/>
          </a:prstGeom>
          <a:ln w="9525" cap="rnd">
            <a:solidFill>
              <a:srgbClr val="FFFFFF">
                <a:alpha val="35000"/>
              </a:srgbClr>
            </a:solidFill>
            <a:prstDash val="solid"/>
            <a:round/>
          </a:ln>
        </p:spPr>
      </p:cxnSp>
      <p:sp>
        <p:nvSpPr>
          <p:cNvPr id="92" name="Ring 92"/>
          <p:cNvSpPr/>
          <p:nvPr/>
        </p:nvSpPr>
        <p:spPr>
          <a:xfrm>
            <a:off x="9665248" y="5408208"/>
            <a:ext cx="117774" cy="117774"/>
          </a:xfrm>
          <a:prstGeom prst="ellipse">
            <a:avLst/>
          </a:prstGeom>
          <a:noFill/>
          <a:ln w="15875" cap="rnd">
            <a:solidFill>
              <a:srgbClr val="8C8C8C"/>
            </a:solidFill>
            <a:prstDash val="solid"/>
            <a:round/>
          </a:ln>
        </p:spPr>
      </p:sp>
      <p:sp>
        <p:nvSpPr>
          <p:cNvPr id="93" name="Bullet 93"/>
          <p:cNvSpPr txBox="1"/>
          <p:nvPr/>
        </p:nvSpPr>
        <p:spPr>
          <a:xfrm>
            <a:off x="9988804" y="5332476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Site gateways and buffering</a:t>
            </a:r>
          </a:p>
        </p:txBody>
      </p:sp>
      <p:sp>
        <p:nvSpPr>
          <p:cNvPr id="94" name="Ring 94"/>
          <p:cNvSpPr/>
          <p:nvPr/>
        </p:nvSpPr>
        <p:spPr>
          <a:xfrm>
            <a:off x="9665248" y="5832896"/>
            <a:ext cx="117774" cy="117774"/>
          </a:xfrm>
          <a:prstGeom prst="ellipse">
            <a:avLst/>
          </a:prstGeom>
          <a:noFill/>
          <a:ln w="15875" cap="rnd">
            <a:solidFill>
              <a:srgbClr val="8C8C8C"/>
            </a:solidFill>
            <a:prstDash val="solid"/>
            <a:round/>
          </a:ln>
        </p:spPr>
      </p:sp>
      <p:sp>
        <p:nvSpPr>
          <p:cNvPr id="95" name="Bullet 95"/>
          <p:cNvSpPr txBox="1"/>
          <p:nvPr/>
        </p:nvSpPr>
        <p:spPr>
          <a:xfrm>
            <a:off x="9988804" y="5757164"/>
            <a:ext cx="2794650" cy="520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Ingestion API and storage in Khobar</a:t>
            </a:r>
          </a:p>
        </p:txBody>
      </p:sp>
      <p:sp>
        <p:nvSpPr>
          <p:cNvPr id="96" name="Ring 96"/>
          <p:cNvSpPr/>
          <p:nvPr/>
        </p:nvSpPr>
        <p:spPr>
          <a:xfrm>
            <a:off x="9665248" y="6499392"/>
            <a:ext cx="117774" cy="117774"/>
          </a:xfrm>
          <a:prstGeom prst="ellipse">
            <a:avLst/>
          </a:prstGeom>
          <a:noFill/>
          <a:ln w="15875" cap="rnd">
            <a:solidFill>
              <a:srgbClr val="8C8C8C"/>
            </a:solidFill>
            <a:prstDash val="solid"/>
            <a:round/>
          </a:ln>
        </p:spPr>
      </p:sp>
      <p:sp>
        <p:nvSpPr>
          <p:cNvPr id="97" name="Bullet 97"/>
          <p:cNvSpPr txBox="1"/>
          <p:nvPr/>
        </p:nvSpPr>
        <p:spPr>
          <a:xfrm>
            <a:off x="9988804" y="6423660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Sign-in with MFA and audit log</a:t>
            </a:r>
          </a:p>
        </p:txBody>
      </p:sp>
      <p:sp>
        <p:nvSpPr>
          <p:cNvPr id="98" name="Ring 98"/>
          <p:cNvSpPr/>
          <p:nvPr/>
        </p:nvSpPr>
        <p:spPr>
          <a:xfrm>
            <a:off x="9665248" y="6924080"/>
            <a:ext cx="117774" cy="117774"/>
          </a:xfrm>
          <a:prstGeom prst="ellipse">
            <a:avLst/>
          </a:prstGeom>
          <a:noFill/>
          <a:ln w="15875" cap="rnd">
            <a:solidFill>
              <a:srgbClr val="8C8C8C"/>
            </a:solidFill>
            <a:prstDash val="solid"/>
            <a:round/>
          </a:ln>
        </p:spPr>
      </p:sp>
      <p:sp>
        <p:nvSpPr>
          <p:cNvPr id="99" name="Bullet 99"/>
          <p:cNvSpPr txBox="1"/>
          <p:nvPr/>
        </p:nvSpPr>
        <p:spPr>
          <a:xfrm>
            <a:off x="9988804" y="6848348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Interface survey per site</a:t>
            </a:r>
          </a:p>
        </p:txBody>
      </p:sp>
      <p:sp>
        <p:nvSpPr>
          <p:cNvPr id="100" name="Card 100"/>
          <p:cNvSpPr/>
          <p:nvPr/>
        </p:nvSpPr>
        <p:spPr>
          <a:xfrm>
            <a:off x="13448538" y="2955036"/>
            <a:ext cx="3897630" cy="5108448"/>
          </a:xfrm>
          <a:prstGeom prst="roundRect">
            <a:avLst>
              <a:gd name="adj" fmla="val 234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101" name="Status 101"/>
          <p:cNvSpPr/>
          <p:nvPr/>
        </p:nvSpPr>
        <p:spPr>
          <a:xfrm>
            <a:off x="13814298" y="3320796"/>
            <a:ext cx="114745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1" spc="10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LATER</a:t>
            </a:r>
          </a:p>
        </p:txBody>
      </p:sp>
      <p:sp>
        <p:nvSpPr>
          <p:cNvPr id="102" name="Col head 102"/>
          <p:cNvSpPr txBox="1"/>
          <p:nvPr/>
        </p:nvSpPr>
        <p:spPr>
          <a:xfrm>
            <a:off x="13814298" y="3915156"/>
            <a:ext cx="325755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AI</a:t>
            </a:r>
          </a:p>
        </p:txBody>
      </p:sp>
      <p:sp>
        <p:nvSpPr>
          <p:cNvPr id="103" name="Col sub 103"/>
          <p:cNvSpPr txBox="1"/>
          <p:nvPr/>
        </p:nvSpPr>
        <p:spPr>
          <a:xfrm>
            <a:off x="13814298" y="4491228"/>
            <a:ext cx="325755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7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Decision support</a:t>
            </a:r>
          </a:p>
        </p:txBody>
      </p:sp>
      <p:cxnSp>
        <p:nvCxnSpPr>
          <p:cNvPr id="104" name="Rule 104"/>
          <p:cNvCxnSpPr/>
          <p:nvPr/>
        </p:nvCxnSpPr>
        <p:spPr>
          <a:xfrm>
            <a:off x="13814298" y="5058156"/>
            <a:ext cx="3166110" cy="0"/>
          </a:xfrm>
          <a:prstGeom prst="line">
            <a:avLst/>
          </a:prstGeom>
          <a:ln w="9525" cap="rnd">
            <a:solidFill>
              <a:srgbClr val="FFFFFF">
                <a:alpha val="35000"/>
              </a:srgbClr>
            </a:solidFill>
            <a:prstDash val="solid"/>
            <a:round/>
          </a:ln>
        </p:spPr>
      </p:cxnSp>
      <p:sp>
        <p:nvSpPr>
          <p:cNvPr id="105" name="Ring 105"/>
          <p:cNvSpPr/>
          <p:nvPr/>
        </p:nvSpPr>
        <p:spPr>
          <a:xfrm>
            <a:off x="13837198" y="5408208"/>
            <a:ext cx="117774" cy="117774"/>
          </a:xfrm>
          <a:prstGeom prst="ellipse">
            <a:avLst/>
          </a:prstGeom>
          <a:noFill/>
          <a:ln w="15875" cap="rnd">
            <a:solidFill>
              <a:srgbClr val="8C8C8C"/>
            </a:solidFill>
            <a:prstDash val="solid"/>
            <a:round/>
          </a:ln>
        </p:spPr>
      </p:sp>
      <p:sp>
        <p:nvSpPr>
          <p:cNvPr id="106" name="Bullet 106"/>
          <p:cNvSpPr txBox="1"/>
          <p:nvPr/>
        </p:nvSpPr>
        <p:spPr>
          <a:xfrm>
            <a:off x="14160754" y="5332476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After data-governance approval</a:t>
            </a:r>
          </a:p>
        </p:txBody>
      </p:sp>
      <p:sp>
        <p:nvSpPr>
          <p:cNvPr id="107" name="Ring 107"/>
          <p:cNvSpPr/>
          <p:nvPr/>
        </p:nvSpPr>
        <p:spPr>
          <a:xfrm>
            <a:off x="13837198" y="5832896"/>
            <a:ext cx="117774" cy="117774"/>
          </a:xfrm>
          <a:prstGeom prst="ellipse">
            <a:avLst/>
          </a:prstGeom>
          <a:noFill/>
          <a:ln w="15875" cap="rnd">
            <a:solidFill>
              <a:srgbClr val="8C8C8C"/>
            </a:solidFill>
            <a:prstDash val="solid"/>
            <a:round/>
          </a:ln>
        </p:spPr>
      </p:sp>
      <p:sp>
        <p:nvSpPr>
          <p:cNvPr id="108" name="Bullet 108"/>
          <p:cNvSpPr txBox="1"/>
          <p:nvPr/>
        </p:nvSpPr>
        <p:spPr>
          <a:xfrm>
            <a:off x="14160754" y="5757164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Advice only, no plant control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GPI Command Center ©2026        www.wit.id        Page 18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NEXT. Next steps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From prototype to a console on real data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862072"/>
            <a:ext cx="16413480" cy="2624328"/>
          </a:xfrm>
          <a:prstGeom prst="roundRect">
            <a:avLst>
              <a:gd name="adj" fmla="val 3484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sp>
        <p:nvSpPr>
          <p:cNvPr id="58" name="Card head 58"/>
          <p:cNvSpPr txBox="1"/>
          <p:nvPr/>
        </p:nvSpPr>
        <p:spPr>
          <a:xfrm>
            <a:off x="1344168" y="3209544"/>
            <a:ext cx="15590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0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GPI team</a:t>
            </a:r>
          </a:p>
        </p:txBody>
      </p:sp>
      <p:sp>
        <p:nvSpPr>
          <p:cNvPr id="59" name="No 59"/>
          <p:cNvSpPr txBox="1"/>
          <p:nvPr/>
        </p:nvSpPr>
        <p:spPr>
          <a:xfrm>
            <a:off x="1344168" y="39136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60" name="Item 60"/>
          <p:cNvSpPr txBox="1"/>
          <p:nvPr/>
        </p:nvSpPr>
        <p:spPr>
          <a:xfrm>
            <a:off x="2029967" y="3913632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Send the logo file, plant coordinates and as-built drawings</a:t>
            </a:r>
          </a:p>
        </p:txBody>
      </p:sp>
      <p:sp>
        <p:nvSpPr>
          <p:cNvPr id="61" name="No 61"/>
          <p:cNvSpPr txBox="1"/>
          <p:nvPr/>
        </p:nvSpPr>
        <p:spPr>
          <a:xfrm>
            <a:off x="1344168" y="43708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62" name="Item 62"/>
          <p:cNvSpPr txBox="1"/>
          <p:nvPr/>
        </p:nvSpPr>
        <p:spPr>
          <a:xfrm>
            <a:off x="2029967" y="4370832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Approve alarm thresholds, delays and priorities with the owner's engineer</a:t>
            </a:r>
          </a:p>
        </p:txBody>
      </p:sp>
      <p:sp>
        <p:nvSpPr>
          <p:cNvPr id="63" name="No 63"/>
          <p:cNvSpPr txBox="1"/>
          <p:nvPr/>
        </p:nvSpPr>
        <p:spPr>
          <a:xfrm>
            <a:off x="1344168" y="48280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03</a:t>
            </a:r>
          </a:p>
        </p:txBody>
      </p:sp>
      <p:sp>
        <p:nvSpPr>
          <p:cNvPr id="64" name="Item 64"/>
          <p:cNvSpPr txBox="1"/>
          <p:nvPr/>
        </p:nvSpPr>
        <p:spPr>
          <a:xfrm>
            <a:off x="2029967" y="4828032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Confirm the billing currency and the fuel and availability targets</a:t>
            </a:r>
          </a:p>
        </p:txBody>
      </p:sp>
      <p:sp>
        <p:nvSpPr>
          <p:cNvPr id="65" name="Card 65"/>
          <p:cNvSpPr/>
          <p:nvPr/>
        </p:nvSpPr>
        <p:spPr>
          <a:xfrm>
            <a:off x="932688" y="5760720"/>
            <a:ext cx="16413480" cy="2624328"/>
          </a:xfrm>
          <a:prstGeom prst="roundRect">
            <a:avLst>
              <a:gd name="adj" fmla="val 3484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6" name="Card head 66"/>
          <p:cNvSpPr txBox="1"/>
          <p:nvPr/>
        </p:nvSpPr>
        <p:spPr>
          <a:xfrm>
            <a:off x="1344168" y="6108192"/>
            <a:ext cx="15590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0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WIT team</a:t>
            </a:r>
          </a:p>
        </p:txBody>
      </p:sp>
      <p:sp>
        <p:nvSpPr>
          <p:cNvPr id="67" name="No 67"/>
          <p:cNvSpPr txBox="1"/>
          <p:nvPr/>
        </p:nvSpPr>
        <p:spPr>
          <a:xfrm>
            <a:off x="1344168" y="68122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68" name="Item 68"/>
          <p:cNvSpPr txBox="1"/>
          <p:nvPr/>
        </p:nvSpPr>
        <p:spPr>
          <a:xfrm>
            <a:off x="2029967" y="6812280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Write end-to-end tests and the test reports for the prototype</a:t>
            </a:r>
          </a:p>
        </p:txBody>
      </p:sp>
      <p:sp>
        <p:nvSpPr>
          <p:cNvPr id="69" name="No 69"/>
          <p:cNvSpPr txBox="1"/>
          <p:nvPr/>
        </p:nvSpPr>
        <p:spPr>
          <a:xfrm>
            <a:off x="1344168" y="72694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70" name="Item 70"/>
          <p:cNvSpPr txBox="1"/>
          <p:nvPr/>
        </p:nvSpPr>
        <p:spPr>
          <a:xfrm>
            <a:off x="2029967" y="7269480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Run the interface survey with each site</a:t>
            </a:r>
          </a:p>
        </p:txBody>
      </p:sp>
      <p:sp>
        <p:nvSpPr>
          <p:cNvPr id="71" name="No 71"/>
          <p:cNvSpPr txBox="1"/>
          <p:nvPr/>
        </p:nvSpPr>
        <p:spPr>
          <a:xfrm>
            <a:off x="1344168" y="77266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03</a:t>
            </a:r>
          </a:p>
        </p:txBody>
      </p:sp>
      <p:sp>
        <p:nvSpPr>
          <p:cNvPr id="72" name="Item 72"/>
          <p:cNvSpPr txBox="1"/>
          <p:nvPr/>
        </p:nvSpPr>
        <p:spPr>
          <a:xfrm>
            <a:off x="2029967" y="7726680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Design the ingestion API and site buffering for phase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28700" y="-4294433"/>
            <a:ext cx="18288000" cy="18333835"/>
          </a:xfrm>
          <a:custGeom>
            <a:avLst/>
            <a:gdLst/>
            <a:ahLst/>
            <a:cxnLst/>
            <a:rect r="r" b="b" t="t" l="l"/>
            <a:pathLst>
              <a:path h="18333835" w="18288000">
                <a:moveTo>
                  <a:pt x="0" y="0"/>
                </a:moveTo>
                <a:lnTo>
                  <a:pt x="18288000" y="0"/>
                </a:lnTo>
                <a:lnTo>
                  <a:pt x="18288000" y="18333835"/>
                </a:lnTo>
                <a:lnTo>
                  <a:pt x="0" y="18333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6068922" y="-2248063"/>
            <a:ext cx="6412290" cy="18550134"/>
            <a:chOff x="0" y="0"/>
            <a:chExt cx="2087269" cy="60382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7269" cy="6038267"/>
            </a:xfrm>
            <a:custGeom>
              <a:avLst/>
              <a:gdLst/>
              <a:ahLst/>
              <a:cxnLst/>
              <a:rect r="r" b="b" t="t" l="l"/>
              <a:pathLst>
                <a:path h="6038267" w="2087269">
                  <a:moveTo>
                    <a:pt x="0" y="0"/>
                  </a:moveTo>
                  <a:lnTo>
                    <a:pt x="2087269" y="0"/>
                  </a:lnTo>
                  <a:lnTo>
                    <a:pt x="2087269" y="6038267"/>
                  </a:lnTo>
                  <a:lnTo>
                    <a:pt x="0" y="603826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087269" cy="6009692"/>
            </a:xfrm>
            <a:prstGeom prst="rect">
              <a:avLst/>
            </a:prstGeom>
          </p:spPr>
          <p:txBody>
            <a:bodyPr anchor="ctr" rtlCol="false" tIns="41103" lIns="41103" bIns="41103" rIns="41103"/>
            <a:lstStyle/>
            <a:p>
              <a:pPr algn="ctr">
                <a:lnSpc>
                  <a:spcPts val="179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942412">
            <a:off x="5380700" y="-4053675"/>
            <a:ext cx="19024252" cy="19024252"/>
          </a:xfrm>
          <a:custGeom>
            <a:avLst/>
            <a:gdLst/>
            <a:ahLst/>
            <a:cxnLst/>
            <a:rect r="r" b="b" t="t" l="l"/>
            <a:pathLst>
              <a:path h="19024252" w="19024252">
                <a:moveTo>
                  <a:pt x="0" y="0"/>
                </a:moveTo>
                <a:lnTo>
                  <a:pt x="19024252" y="0"/>
                </a:lnTo>
                <a:lnTo>
                  <a:pt x="19024252" y="19024251"/>
                </a:lnTo>
                <a:lnTo>
                  <a:pt x="0" y="190242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747035"/>
            <a:ext cx="2237830" cy="699985"/>
          </a:xfrm>
          <a:custGeom>
            <a:avLst/>
            <a:gdLst/>
            <a:ahLst/>
            <a:cxnLst/>
            <a:rect r="r" b="b" t="t" l="l"/>
            <a:pathLst>
              <a:path h="699985" w="2237830">
                <a:moveTo>
                  <a:pt x="0" y="0"/>
                </a:moveTo>
                <a:lnTo>
                  <a:pt x="2237830" y="0"/>
                </a:lnTo>
                <a:lnTo>
                  <a:pt x="2237830" y="699985"/>
                </a:lnTo>
                <a:lnTo>
                  <a:pt x="0" y="6999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805153" y="6722605"/>
            <a:ext cx="3386600" cy="2535695"/>
            <a:chOff x="0" y="0"/>
            <a:chExt cx="1207259" cy="903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7259" cy="903928"/>
            </a:xfrm>
            <a:custGeom>
              <a:avLst/>
              <a:gdLst/>
              <a:ahLst/>
              <a:cxnLst/>
              <a:rect r="r" b="b" t="t" l="l"/>
              <a:pathLst>
                <a:path h="903928" w="1207259">
                  <a:moveTo>
                    <a:pt x="57151" y="0"/>
                  </a:moveTo>
                  <a:lnTo>
                    <a:pt x="1150108" y="0"/>
                  </a:lnTo>
                  <a:cubicBezTo>
                    <a:pt x="1181672" y="0"/>
                    <a:pt x="1207259" y="25587"/>
                    <a:pt x="1207259" y="57151"/>
                  </a:cubicBezTo>
                  <a:lnTo>
                    <a:pt x="1207259" y="846777"/>
                  </a:lnTo>
                  <a:cubicBezTo>
                    <a:pt x="1207259" y="878340"/>
                    <a:pt x="1181672" y="903928"/>
                    <a:pt x="1150108" y="903928"/>
                  </a:cubicBezTo>
                  <a:lnTo>
                    <a:pt x="57151" y="903928"/>
                  </a:lnTo>
                  <a:cubicBezTo>
                    <a:pt x="25587" y="903928"/>
                    <a:pt x="0" y="878340"/>
                    <a:pt x="0" y="846777"/>
                  </a:cubicBezTo>
                  <a:lnTo>
                    <a:pt x="0" y="57151"/>
                  </a:lnTo>
                  <a:cubicBezTo>
                    <a:pt x="0" y="25587"/>
                    <a:pt x="25587" y="0"/>
                    <a:pt x="57151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19050" cap="rnd">
              <a:solidFill>
                <a:srgbClr val="FEFEFE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207259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93141" y="6722605"/>
            <a:ext cx="6666159" cy="2535695"/>
            <a:chOff x="0" y="0"/>
            <a:chExt cx="2376360" cy="9039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6361" cy="903928"/>
            </a:xfrm>
            <a:custGeom>
              <a:avLst/>
              <a:gdLst/>
              <a:ahLst/>
              <a:cxnLst/>
              <a:rect r="r" b="b" t="t" l="l"/>
              <a:pathLst>
                <a:path h="903928" w="2376361">
                  <a:moveTo>
                    <a:pt x="29034" y="0"/>
                  </a:moveTo>
                  <a:lnTo>
                    <a:pt x="2347326" y="0"/>
                  </a:lnTo>
                  <a:cubicBezTo>
                    <a:pt x="2363361" y="0"/>
                    <a:pt x="2376361" y="12999"/>
                    <a:pt x="2376361" y="29034"/>
                  </a:cubicBezTo>
                  <a:lnTo>
                    <a:pt x="2376361" y="874893"/>
                  </a:lnTo>
                  <a:cubicBezTo>
                    <a:pt x="2376361" y="890929"/>
                    <a:pt x="2363361" y="903928"/>
                    <a:pt x="2347326" y="903928"/>
                  </a:cubicBezTo>
                  <a:lnTo>
                    <a:pt x="29034" y="903928"/>
                  </a:lnTo>
                  <a:cubicBezTo>
                    <a:pt x="12999" y="903928"/>
                    <a:pt x="0" y="890929"/>
                    <a:pt x="0" y="874893"/>
                  </a:cubicBezTo>
                  <a:lnTo>
                    <a:pt x="0" y="29034"/>
                  </a:lnTo>
                  <a:cubicBezTo>
                    <a:pt x="0" y="12999"/>
                    <a:pt x="12999" y="0"/>
                    <a:pt x="29034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19050" cap="rnd">
              <a:solidFill>
                <a:srgbClr val="FEFEFE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2376360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93141" y="6722605"/>
            <a:ext cx="6666159" cy="2535695"/>
            <a:chOff x="0" y="0"/>
            <a:chExt cx="2376360" cy="9039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76361" cy="903928"/>
            </a:xfrm>
            <a:custGeom>
              <a:avLst/>
              <a:gdLst/>
              <a:ahLst/>
              <a:cxnLst/>
              <a:rect r="r" b="b" t="t" l="l"/>
              <a:pathLst>
                <a:path h="903928" w="2376361">
                  <a:moveTo>
                    <a:pt x="29034" y="0"/>
                  </a:moveTo>
                  <a:lnTo>
                    <a:pt x="2347326" y="0"/>
                  </a:lnTo>
                  <a:cubicBezTo>
                    <a:pt x="2363361" y="0"/>
                    <a:pt x="2376361" y="12999"/>
                    <a:pt x="2376361" y="29034"/>
                  </a:cubicBezTo>
                  <a:lnTo>
                    <a:pt x="2376361" y="874893"/>
                  </a:lnTo>
                  <a:cubicBezTo>
                    <a:pt x="2376361" y="890929"/>
                    <a:pt x="2363361" y="903928"/>
                    <a:pt x="2347326" y="903928"/>
                  </a:cubicBezTo>
                  <a:lnTo>
                    <a:pt x="29034" y="903928"/>
                  </a:lnTo>
                  <a:cubicBezTo>
                    <a:pt x="12999" y="903928"/>
                    <a:pt x="0" y="890929"/>
                    <a:pt x="0" y="874893"/>
                  </a:cubicBezTo>
                  <a:lnTo>
                    <a:pt x="0" y="29034"/>
                  </a:lnTo>
                  <a:cubicBezTo>
                    <a:pt x="0" y="12999"/>
                    <a:pt x="12999" y="0"/>
                    <a:pt x="29034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2376360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05153" y="6722605"/>
            <a:ext cx="3386600" cy="2535695"/>
            <a:chOff x="0" y="0"/>
            <a:chExt cx="1207259" cy="9039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7259" cy="903928"/>
            </a:xfrm>
            <a:custGeom>
              <a:avLst/>
              <a:gdLst/>
              <a:ahLst/>
              <a:cxnLst/>
              <a:rect r="r" b="b" t="t" l="l"/>
              <a:pathLst>
                <a:path h="903928" w="1207259">
                  <a:moveTo>
                    <a:pt x="57151" y="0"/>
                  </a:moveTo>
                  <a:lnTo>
                    <a:pt x="1150108" y="0"/>
                  </a:lnTo>
                  <a:cubicBezTo>
                    <a:pt x="1181672" y="0"/>
                    <a:pt x="1207259" y="25587"/>
                    <a:pt x="1207259" y="57151"/>
                  </a:cubicBezTo>
                  <a:lnTo>
                    <a:pt x="1207259" y="846777"/>
                  </a:lnTo>
                  <a:cubicBezTo>
                    <a:pt x="1207259" y="878340"/>
                    <a:pt x="1181672" y="903928"/>
                    <a:pt x="1150108" y="903928"/>
                  </a:cubicBezTo>
                  <a:lnTo>
                    <a:pt x="57151" y="903928"/>
                  </a:lnTo>
                  <a:cubicBezTo>
                    <a:pt x="25587" y="903928"/>
                    <a:pt x="0" y="878340"/>
                    <a:pt x="0" y="846777"/>
                  </a:cubicBezTo>
                  <a:lnTo>
                    <a:pt x="0" y="57151"/>
                  </a:lnTo>
                  <a:cubicBezTo>
                    <a:pt x="0" y="25587"/>
                    <a:pt x="25587" y="0"/>
                    <a:pt x="571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470"/>
                  </a:srgbClr>
                </a:gs>
                <a:gs pos="50000">
                  <a:srgbClr val="FFFFFF">
                    <a:alpha val="8820"/>
                  </a:srgbClr>
                </a:gs>
                <a:gs pos="100000">
                  <a:srgbClr val="FFFFFF">
                    <a:alpha val="21000"/>
                  </a:srgbClr>
                </a:gs>
              </a:gsLst>
              <a:lin ang="5400000"/>
            </a:gradFill>
            <a:ln w="19050" cap="rnd">
              <a:solidFill>
                <a:srgbClr val="FEFEFE">
                  <a:alpha val="20784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1207259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593141" y="6722605"/>
            <a:ext cx="6666159" cy="2535695"/>
            <a:chOff x="0" y="0"/>
            <a:chExt cx="2376360" cy="9039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76361" cy="903928"/>
            </a:xfrm>
            <a:custGeom>
              <a:avLst/>
              <a:gdLst/>
              <a:ahLst/>
              <a:cxnLst/>
              <a:rect r="r" b="b" t="t" l="l"/>
              <a:pathLst>
                <a:path h="903928" w="2376361">
                  <a:moveTo>
                    <a:pt x="29034" y="0"/>
                  </a:moveTo>
                  <a:lnTo>
                    <a:pt x="2347326" y="0"/>
                  </a:lnTo>
                  <a:cubicBezTo>
                    <a:pt x="2363361" y="0"/>
                    <a:pt x="2376361" y="12999"/>
                    <a:pt x="2376361" y="29034"/>
                  </a:cubicBezTo>
                  <a:lnTo>
                    <a:pt x="2376361" y="874893"/>
                  </a:lnTo>
                  <a:cubicBezTo>
                    <a:pt x="2376361" y="890929"/>
                    <a:pt x="2363361" y="903928"/>
                    <a:pt x="2347326" y="903928"/>
                  </a:cubicBezTo>
                  <a:lnTo>
                    <a:pt x="29034" y="903928"/>
                  </a:lnTo>
                  <a:cubicBezTo>
                    <a:pt x="12999" y="903928"/>
                    <a:pt x="0" y="890929"/>
                    <a:pt x="0" y="874893"/>
                  </a:cubicBezTo>
                  <a:lnTo>
                    <a:pt x="0" y="29034"/>
                  </a:lnTo>
                  <a:cubicBezTo>
                    <a:pt x="0" y="12999"/>
                    <a:pt x="12999" y="0"/>
                    <a:pt x="290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470"/>
                  </a:srgbClr>
                </a:gs>
                <a:gs pos="50000">
                  <a:srgbClr val="FFFFFF">
                    <a:alpha val="8820"/>
                  </a:srgbClr>
                </a:gs>
                <a:gs pos="100000">
                  <a:srgbClr val="FFFFFF">
                    <a:alpha val="21000"/>
                  </a:srgbClr>
                </a:gs>
              </a:gsLst>
              <a:lin ang="5400000"/>
            </a:gradFill>
            <a:ln w="19050" cap="rnd">
              <a:solidFill>
                <a:srgbClr val="FEFEFE">
                  <a:alpha val="20784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2376360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05153" y="6722605"/>
            <a:ext cx="3386600" cy="2535695"/>
            <a:chOff x="0" y="0"/>
            <a:chExt cx="1207259" cy="9039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07259" cy="903928"/>
            </a:xfrm>
            <a:custGeom>
              <a:avLst/>
              <a:gdLst/>
              <a:ahLst/>
              <a:cxnLst/>
              <a:rect r="r" b="b" t="t" l="l"/>
              <a:pathLst>
                <a:path h="903928" w="1207259">
                  <a:moveTo>
                    <a:pt x="57151" y="0"/>
                  </a:moveTo>
                  <a:lnTo>
                    <a:pt x="1150108" y="0"/>
                  </a:lnTo>
                  <a:cubicBezTo>
                    <a:pt x="1181672" y="0"/>
                    <a:pt x="1207259" y="25587"/>
                    <a:pt x="1207259" y="57151"/>
                  </a:cubicBezTo>
                  <a:lnTo>
                    <a:pt x="1207259" y="846777"/>
                  </a:lnTo>
                  <a:cubicBezTo>
                    <a:pt x="1207259" y="878340"/>
                    <a:pt x="1181672" y="903928"/>
                    <a:pt x="1150108" y="903928"/>
                  </a:cubicBezTo>
                  <a:lnTo>
                    <a:pt x="57151" y="903928"/>
                  </a:lnTo>
                  <a:cubicBezTo>
                    <a:pt x="25587" y="903928"/>
                    <a:pt x="0" y="878340"/>
                    <a:pt x="0" y="846777"/>
                  </a:cubicBezTo>
                  <a:lnTo>
                    <a:pt x="0" y="57151"/>
                  </a:lnTo>
                  <a:cubicBezTo>
                    <a:pt x="0" y="25587"/>
                    <a:pt x="25587" y="0"/>
                    <a:pt x="57151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1207259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closing_divider" id="28"/>
          <p:cNvSpPr/>
          <p:nvPr/>
        </p:nvSpPr>
        <p:spPr>
          <a:xfrm flipV="true">
            <a:off x="13224347" y="7008602"/>
            <a:ext cx="0" cy="1860749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28700" y="8634350"/>
            <a:ext cx="2237830" cy="63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22"/>
              </a:lnSpc>
              <a:spcBef>
                <a:spcPct val="0"/>
              </a:spcBef>
            </a:pPr>
            <a:r>
              <a:rPr lang="en-US" b="true" sz="1622" spc="-8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360° Digital Transformation Culture Company</a:t>
            </a:r>
          </a:p>
        </p:txBody>
      </p:sp>
      <p:sp>
        <p:nvSpPr>
          <p:cNvPr name="closing_head" id="30"/>
          <p:cNvSpPr txBox="true"/>
          <p:nvPr/>
        </p:nvSpPr>
        <p:spPr>
          <a:xfrm rot="0">
            <a:off x="7176023" y="6898118"/>
            <a:ext cx="2536482" cy="380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b="true" sz="2068" spc="-10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Make IT Happen.</a:t>
            </a:r>
          </a:p>
        </p:txBody>
      </p:sp>
      <p:sp>
        <p:nvSpPr>
          <p:cNvPr name="closing_msg" id="31"/>
          <p:cNvSpPr txBox="true"/>
          <p:nvPr/>
        </p:nvSpPr>
        <p:spPr>
          <a:xfrm rot="0">
            <a:off x="7176023" y="7498079"/>
            <a:ext cx="265176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8"/>
              </a:lnSpc>
            </a:pPr>
            <a:r>
              <a:rPr lang="en-US" b="true" sz="1350" spc="-7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The GPI Command Center prototype is ready for review with the Khobar team.</a:t>
            </a:r>
          </a:p>
        </p:txBody>
      </p:sp>
      <p:sp>
        <p:nvSpPr>
          <p:cNvPr id="32" name="Label 32"/>
          <p:cNvSpPr txBox="1"/>
          <p:nvPr/>
        </p:nvSpPr>
        <p:spPr>
          <a:xfrm>
            <a:off x="10963656" y="700430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00"/>
              </a:lnSpc>
            </a:pPr>
            <a:r>
              <a:rPr lang="en-US" sz="1100" b="1" spc="12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REVIEW NEXT</a:t>
            </a:r>
          </a:p>
        </p:txBody>
      </p:sp>
      <p:pic>
        <p:nvPicPr>
          <p:cNvPr id="33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656" y="7429500"/>
            <a:ext cx="173736" cy="173736"/>
          </a:xfrm>
          <a:prstGeom prst="rect">
            <a:avLst/>
          </a:prstGeom>
        </p:spPr>
      </p:pic>
      <p:sp>
        <p:nvSpPr>
          <p:cNvPr id="34" name="Item 34"/>
          <p:cNvSpPr txBox="1"/>
          <p:nvPr/>
        </p:nvSpPr>
        <p:spPr>
          <a:xfrm>
            <a:off x="11256264" y="7388352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Site plan layouts</a:t>
            </a:r>
          </a:p>
        </p:txBody>
      </p:sp>
      <p:pic>
        <p:nvPicPr>
          <p:cNvPr id="35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656" y="7840979"/>
            <a:ext cx="173736" cy="173736"/>
          </a:xfrm>
          <a:prstGeom prst="rect">
            <a:avLst/>
          </a:prstGeom>
        </p:spPr>
      </p:pic>
      <p:sp>
        <p:nvSpPr>
          <p:cNvPr id="36" name="Item 36"/>
          <p:cNvSpPr txBox="1"/>
          <p:nvPr/>
        </p:nvSpPr>
        <p:spPr>
          <a:xfrm>
            <a:off x="11256264" y="7799831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Alarm register</a:t>
            </a:r>
          </a:p>
        </p:txBody>
      </p:sp>
      <p:pic>
        <p:nvPicPr>
          <p:cNvPr id="37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656" y="8252459"/>
            <a:ext cx="173736" cy="173736"/>
          </a:xfrm>
          <a:prstGeom prst="rect">
            <a:avLst/>
          </a:prstGeom>
        </p:spPr>
      </p:pic>
      <p:sp>
        <p:nvSpPr>
          <p:cNvPr id="38" name="Item 38"/>
          <p:cNvSpPr txBox="1"/>
          <p:nvPr/>
        </p:nvSpPr>
        <p:spPr>
          <a:xfrm>
            <a:off x="11256264" y="8211311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Insight rules</a:t>
            </a:r>
          </a:p>
        </p:txBody>
      </p:sp>
      <p:sp>
        <p:nvSpPr>
          <p:cNvPr id="39" name="Label 39"/>
          <p:cNvSpPr txBox="1"/>
          <p:nvPr/>
        </p:nvSpPr>
        <p:spPr>
          <a:xfrm>
            <a:off x="13651992" y="7004304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00"/>
              </a:lnSpc>
            </a:pPr>
            <a:r>
              <a:rPr lang="en-US" sz="1100" b="1" spc="12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CONTACT</a:t>
            </a:r>
          </a:p>
        </p:txBody>
      </p:sp>
      <p:sp>
        <p:nvSpPr>
          <p:cNvPr id="40" name="Value 40"/>
          <p:cNvSpPr txBox="1"/>
          <p:nvPr/>
        </p:nvSpPr>
        <p:spPr>
          <a:xfrm>
            <a:off x="13651992" y="733348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business@wit.id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DAHSgwKjGq8</dc:identifier>
  <dcterms:modified xsi:type="dcterms:W3CDTF">2011-08-01T06:04:30Z</dcterms:modified>
  <cp:revision>1</cp:revision>
  <dc:title>GPI Command Center</dc:title>
</cp:coreProperties>
</file>